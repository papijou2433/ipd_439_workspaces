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1" r:id="rId1"/>
  </p:sldMasterIdLst>
  <p:notesMasterIdLst>
    <p:notesMasterId r:id="rId9"/>
  </p:notesMasterIdLst>
  <p:sldIdLst>
    <p:sldId id="256" r:id="rId2"/>
    <p:sldId id="257" r:id="rId3"/>
    <p:sldId id="268" r:id="rId4"/>
    <p:sldId id="288" r:id="rId5"/>
    <p:sldId id="290" r:id="rId6"/>
    <p:sldId id="289" r:id="rId7"/>
    <p:sldId id="28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A9350F-2939-4458-8D71-3F15E74601A9}" type="datetimeFigureOut">
              <a:rPr lang="es-ES" smtClean="0"/>
              <a:t>12/05/2026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1F878-C97D-4BE2-B675-011D6B6D452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078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174E-6725-4DA7-9A8F-10708BCA6C53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2671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E6AE57-678C-4474-BCAF-A1C1D01D9923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277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444EE-D81E-4C7F-A938-20181987BA6B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0310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FAF70-6DC3-49DB-8469-3FD7C3DF5C2E}" type="datetime1">
              <a:rPr lang="es-ES" smtClean="0"/>
              <a:t>12/05/2026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2160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ABBE8-6FAC-4BD3-965B-CE24F796E336}" type="datetime1">
              <a:rPr lang="es-ES" smtClean="0"/>
              <a:t>12/05/2026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03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C02F9-238F-4FB1-8B2A-D4A4337555AF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6870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8BAA2-4E3A-4749-9C95-C97D8416C792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21291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CFCA8-6CCF-4D46-B1C6-78E050CA5BBC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6511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2B887-773C-4083-9C59-A03E7CE6E670}" type="datetime1">
              <a:rPr lang="es-ES" smtClean="0"/>
              <a:t>12/05/2026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64303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51DC3-5264-44C7-A3E4-CFD509EBEA33}" type="datetime1">
              <a:rPr lang="es-ES" smtClean="0"/>
              <a:t>12/05/2026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4767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77A52-5768-40D1-BC8B-CF7AA6FE6FAE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85231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62928-AC8C-432A-97A6-2FD35C4358B6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67805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28E7-65C2-4A97-A3E3-4276DB320591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34087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4C196-43F4-4D9F-AE7A-CB11FBCCE685}" type="datetime1">
              <a:rPr lang="es-ES" smtClean="0"/>
              <a:t>12/05/2026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78339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D7ACA-758E-4EA2-90F8-B36D5DB85761}" type="datetime1">
              <a:rPr lang="es-ES" smtClean="0"/>
              <a:t>12/05/2026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876771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6CC12-3AAD-493A-B056-FC6E58CED972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53532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15989-7D34-4CB0-BE8D-094F4093C5BE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5411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34307928-303A-499E-B86C-8D170FB3D7EF}" type="datetime1">
              <a:rPr lang="es-ES" smtClean="0"/>
              <a:t>12/05/2026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3202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  <p:sldLayoutId id="2147483778" r:id="rId17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F913-F19F-111C-F69E-7A31797FCF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8878" y="2005709"/>
            <a:ext cx="8654243" cy="1646302"/>
          </a:xfrm>
        </p:spPr>
        <p:txBody>
          <a:bodyPr>
            <a:normAutofit fontScale="90000"/>
          </a:bodyPr>
          <a:lstStyle/>
          <a:p>
            <a:r>
              <a:rPr lang="es-ES" dirty="0"/>
              <a:t>Caracterización de ADC y DAC de microcontroladores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8D4090-8606-687E-F576-7C266EB4DD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6304"/>
            <a:ext cx="9144000" cy="1655762"/>
          </a:xfrm>
        </p:spPr>
        <p:txBody>
          <a:bodyPr/>
          <a:lstStyle/>
          <a:p>
            <a:r>
              <a:rPr lang="es-ES" dirty="0"/>
              <a:t>Por: Sebastián Sánchez</a:t>
            </a:r>
          </a:p>
          <a:p>
            <a:r>
              <a:rPr lang="es-ES" dirty="0"/>
              <a:t>Profesor: Alejandro Weinstein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164D27E-3252-745D-E48E-D8A7D1499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7E3D29-99E6-F3A2-6ECC-BF12468D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5826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CBD45-D414-D162-B961-410B924DA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Objetivo General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92E922B-3F90-83DE-4C42-543B57B10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400" dirty="0"/>
              <a:t>Validar métricas de desempeño de periféricos análogos de los microcontroladores STM32 l476RG y ESP32 S3 mini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968DD1-EE3B-6005-1EF2-6D727F098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71B0C7-5901-5031-36A8-C793F3153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031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379EA-C185-2BEC-536D-F60FF85E2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Objetivos específicos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5CD2E8-12E3-785F-E414-3D85C3753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740678"/>
          </a:xfrm>
        </p:spPr>
        <p:txBody>
          <a:bodyPr>
            <a:normAutofit/>
          </a:bodyPr>
          <a:lstStyle/>
          <a:p>
            <a:r>
              <a:rPr lang="es-ES" sz="2400" dirty="0"/>
              <a:t>Caracterizar el ADC de la SMT32 L476RG y ESP32 S3 mini</a:t>
            </a:r>
          </a:p>
          <a:p>
            <a:r>
              <a:rPr lang="es-ES" sz="2400" dirty="0"/>
              <a:t>Caracterizar el DAC de la STM32 L476RG</a:t>
            </a:r>
          </a:p>
          <a:p>
            <a:r>
              <a:rPr lang="es-ES" sz="2400" dirty="0"/>
              <a:t>Generar tabla comparativa de periféricos análogos entre estos microcontroladores antes y después de calibrarlos.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2FA5DB-F33F-A69D-3A6C-4FEF5780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A493EF-472F-56C4-85B9-DF4F5D44B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8295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55AB8-75E2-D3D1-B2C2-2307EFB62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BCCCF5-D31D-F16D-2489-F18E6587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Previa a obtención de métricas AC</a:t>
            </a:r>
            <a:br>
              <a:rPr lang="es-ES" dirty="0"/>
            </a:br>
            <a:r>
              <a:rPr lang="es-ES" dirty="0"/>
              <a:t>DAC y STM32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ACF9751-1D18-50D5-1205-FF50F4F5CE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7113" y="2010585"/>
            <a:ext cx="4459288" cy="4195481"/>
          </a:xfrm>
        </p:spPr>
        <p:txBody>
          <a:bodyPr/>
          <a:lstStyle/>
          <a:p>
            <a:pPr marL="0" indent="0">
              <a:buNone/>
            </a:pPr>
            <a:r>
              <a:rPr lang="es-ES" dirty="0"/>
              <a:t>Haciendo 5 pruebas con frecuencias distintas, para 2^14 mediciones por frecuencia y una frecuencia de </a:t>
            </a:r>
            <a:r>
              <a:rPr lang="es-ES" dirty="0" err="1"/>
              <a:t>sampleo</a:t>
            </a:r>
            <a:r>
              <a:rPr lang="es-ES" dirty="0"/>
              <a:t> de 10[kHz]</a:t>
            </a:r>
          </a:p>
          <a:p>
            <a:pPr marL="0" indent="0">
              <a:buNone/>
            </a:pPr>
            <a:r>
              <a:rPr lang="es-ES" dirty="0"/>
              <a:t>Fi_1 = 1,8311[Hz] (J=3)</a:t>
            </a:r>
          </a:p>
          <a:p>
            <a:pPr marL="0" indent="0">
              <a:buNone/>
            </a:pPr>
            <a:r>
              <a:rPr lang="es-ES" dirty="0"/>
              <a:t>Fi_2 = 3,0518[Hz] (J=5)</a:t>
            </a:r>
          </a:p>
          <a:p>
            <a:pPr marL="0" indent="0">
              <a:buNone/>
            </a:pPr>
            <a:r>
              <a:rPr lang="es-ES" dirty="0"/>
              <a:t>Fi_3 = 4,2725[Hz] (J=7)</a:t>
            </a:r>
          </a:p>
          <a:p>
            <a:pPr marL="0" indent="0">
              <a:buNone/>
            </a:pPr>
            <a:r>
              <a:rPr lang="es-ES" dirty="0"/>
              <a:t>Fi_4 = 5,4932[Hz] (J=8)</a:t>
            </a:r>
          </a:p>
          <a:p>
            <a:pPr marL="0" indent="0">
              <a:buNone/>
            </a:pPr>
            <a:r>
              <a:rPr lang="es-ES" dirty="0"/>
              <a:t>Fi_5 = 6,7139[Hz] (J=9)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8245697-1D5C-A433-C899-47E00C244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F8E396A-5F18-47B7-9FE3-D337CD5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4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3671D7F-9E0A-DC19-70F0-FD8FD93D0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3280" y="3038364"/>
            <a:ext cx="4734266" cy="213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745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C1A906-BF5E-49DE-E933-1739ABE9A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65A69E-84BD-C137-6CEB-0271C7889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1447799"/>
            <a:ext cx="3105075" cy="144475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2200"/>
              <a:t>Previa a obtención de métricas AC</a:t>
            </a:r>
            <a:br>
              <a:rPr lang="es-ES" sz="2200"/>
            </a:br>
            <a:r>
              <a:rPr lang="es-ES" sz="2200"/>
              <a:t>DAC y STM32</a:t>
            </a:r>
          </a:p>
        </p:txBody>
      </p:sp>
      <p:sp>
        <p:nvSpPr>
          <p:cNvPr id="29" name="Freeform: Shape 14">
            <a:extLst>
              <a:ext uri="{FF2B5EF4-FFF2-40B4-BE49-F238E27FC236}">
                <a16:creationId xmlns:a16="http://schemas.microsoft.com/office/drawing/2014/main" id="{C77F74B7-5344-4985-8463-5B8EE7030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4747655" y="-586345"/>
            <a:ext cx="6858001" cy="8030691"/>
          </a:xfrm>
          <a:custGeom>
            <a:avLst/>
            <a:gdLst>
              <a:gd name="connsiteX0" fmla="*/ 6858001 w 6858001"/>
              <a:gd name="connsiteY0" fmla="*/ 1177 h 8030691"/>
              <a:gd name="connsiteX1" fmla="*/ 6858001 w 6858001"/>
              <a:gd name="connsiteY1" fmla="*/ 1344715 h 8030691"/>
              <a:gd name="connsiteX2" fmla="*/ 6858000 w 6858001"/>
              <a:gd name="connsiteY2" fmla="*/ 1344715 h 8030691"/>
              <a:gd name="connsiteX3" fmla="*/ 6858000 w 6858001"/>
              <a:gd name="connsiteY3" fmla="*/ 8030691 h 8030691"/>
              <a:gd name="connsiteX4" fmla="*/ 0 w 6858001"/>
              <a:gd name="connsiteY4" fmla="*/ 8030690 h 8030691"/>
              <a:gd name="connsiteX5" fmla="*/ 0 w 6858001"/>
              <a:gd name="connsiteY5" fmla="*/ 477747 h 8030691"/>
              <a:gd name="connsiteX6" fmla="*/ 1 w 6858001"/>
              <a:gd name="connsiteY6" fmla="*/ 477747 h 8030691"/>
              <a:gd name="connsiteX7" fmla="*/ 1 w 6858001"/>
              <a:gd name="connsiteY7" fmla="*/ 0 h 8030691"/>
              <a:gd name="connsiteX8" fmla="*/ 40463 w 6858001"/>
              <a:gd name="connsiteY8" fmla="*/ 5883 h 8030691"/>
              <a:gd name="connsiteX9" fmla="*/ 159107 w 6858001"/>
              <a:gd name="connsiteY9" fmla="*/ 23196 h 8030691"/>
              <a:gd name="connsiteX10" fmla="*/ 245518 w 6858001"/>
              <a:gd name="connsiteY10" fmla="*/ 35299 h 8030691"/>
              <a:gd name="connsiteX11" fmla="*/ 348388 w 6858001"/>
              <a:gd name="connsiteY11" fmla="*/ 48074 h 8030691"/>
              <a:gd name="connsiteX12" fmla="*/ 470460 w 6858001"/>
              <a:gd name="connsiteY12" fmla="*/ 63370 h 8030691"/>
              <a:gd name="connsiteX13" fmla="*/ 605563 w 6858001"/>
              <a:gd name="connsiteY13" fmla="*/ 79507 h 8030691"/>
              <a:gd name="connsiteX14" fmla="*/ 757810 w 6858001"/>
              <a:gd name="connsiteY14" fmla="*/ 96484 h 8030691"/>
              <a:gd name="connsiteX15" fmla="*/ 923774 w 6858001"/>
              <a:gd name="connsiteY15" fmla="*/ 114469 h 8030691"/>
              <a:gd name="connsiteX16" fmla="*/ 1104139 w 6858001"/>
              <a:gd name="connsiteY16" fmla="*/ 132455 h 8030691"/>
              <a:gd name="connsiteX17" fmla="*/ 1296163 w 6858001"/>
              <a:gd name="connsiteY17" fmla="*/ 150776 h 8030691"/>
              <a:gd name="connsiteX18" fmla="*/ 1503275 w 6858001"/>
              <a:gd name="connsiteY18" fmla="*/ 167753 h 8030691"/>
              <a:gd name="connsiteX19" fmla="*/ 1719988 w 6858001"/>
              <a:gd name="connsiteY19" fmla="*/ 184058 h 8030691"/>
              <a:gd name="connsiteX20" fmla="*/ 1949045 w 6858001"/>
              <a:gd name="connsiteY20" fmla="*/ 198850 h 8030691"/>
              <a:gd name="connsiteX21" fmla="*/ 2187703 w 6858001"/>
              <a:gd name="connsiteY21" fmla="*/ 212969 h 8030691"/>
              <a:gd name="connsiteX22" fmla="*/ 2436649 w 6858001"/>
              <a:gd name="connsiteY22" fmla="*/ 226249 h 8030691"/>
              <a:gd name="connsiteX23" fmla="*/ 2564208 w 6858001"/>
              <a:gd name="connsiteY23" fmla="*/ 230955 h 8030691"/>
              <a:gd name="connsiteX24" fmla="*/ 2694509 w 6858001"/>
              <a:gd name="connsiteY24" fmla="*/ 236166 h 8030691"/>
              <a:gd name="connsiteX25" fmla="*/ 2826869 w 6858001"/>
              <a:gd name="connsiteY25" fmla="*/ 241040 h 8030691"/>
              <a:gd name="connsiteX26" fmla="*/ 2959914 w 6858001"/>
              <a:gd name="connsiteY26" fmla="*/ 244234 h 8030691"/>
              <a:gd name="connsiteX27" fmla="*/ 3095702 w 6858001"/>
              <a:gd name="connsiteY27" fmla="*/ 247092 h 8030691"/>
              <a:gd name="connsiteX28" fmla="*/ 3232862 w 6858001"/>
              <a:gd name="connsiteY28" fmla="*/ 250117 h 8030691"/>
              <a:gd name="connsiteX29" fmla="*/ 3372766 w 6858001"/>
              <a:gd name="connsiteY29" fmla="*/ 252134 h 8030691"/>
              <a:gd name="connsiteX30" fmla="*/ 3514040 w 6858001"/>
              <a:gd name="connsiteY30" fmla="*/ 252134 h 8030691"/>
              <a:gd name="connsiteX31" fmla="*/ 3656686 w 6858001"/>
              <a:gd name="connsiteY31" fmla="*/ 253143 h 8030691"/>
              <a:gd name="connsiteX32" fmla="*/ 3800705 w 6858001"/>
              <a:gd name="connsiteY32" fmla="*/ 252134 h 8030691"/>
              <a:gd name="connsiteX33" fmla="*/ 3946780 w 6858001"/>
              <a:gd name="connsiteY33" fmla="*/ 250117 h 8030691"/>
              <a:gd name="connsiteX34" fmla="*/ 4092856 w 6858001"/>
              <a:gd name="connsiteY34" fmla="*/ 248268 h 8030691"/>
              <a:gd name="connsiteX35" fmla="*/ 4240988 w 6858001"/>
              <a:gd name="connsiteY35" fmla="*/ 244234 h 8030691"/>
              <a:gd name="connsiteX36" fmla="*/ 4390492 w 6858001"/>
              <a:gd name="connsiteY36" fmla="*/ 240032 h 8030691"/>
              <a:gd name="connsiteX37" fmla="*/ 4539997 w 6858001"/>
              <a:gd name="connsiteY37" fmla="*/ 235157 h 8030691"/>
              <a:gd name="connsiteX38" fmla="*/ 4690873 w 6858001"/>
              <a:gd name="connsiteY38" fmla="*/ 228266 h 8030691"/>
              <a:gd name="connsiteX39" fmla="*/ 4843120 w 6858001"/>
              <a:gd name="connsiteY39" fmla="*/ 220029 h 8030691"/>
              <a:gd name="connsiteX40" fmla="*/ 4996054 w 6858001"/>
              <a:gd name="connsiteY40" fmla="*/ 212129 h 8030691"/>
              <a:gd name="connsiteX41" fmla="*/ 5148987 w 6858001"/>
              <a:gd name="connsiteY41" fmla="*/ 202044 h 8030691"/>
              <a:gd name="connsiteX42" fmla="*/ 5303978 w 6858001"/>
              <a:gd name="connsiteY42" fmla="*/ 189941 h 8030691"/>
              <a:gd name="connsiteX43" fmla="*/ 5456911 w 6858001"/>
              <a:gd name="connsiteY43" fmla="*/ 177839 h 8030691"/>
              <a:gd name="connsiteX44" fmla="*/ 5612588 w 6858001"/>
              <a:gd name="connsiteY44" fmla="*/ 163887 h 8030691"/>
              <a:gd name="connsiteX45" fmla="*/ 5768950 w 6858001"/>
              <a:gd name="connsiteY45" fmla="*/ 148591 h 8030691"/>
              <a:gd name="connsiteX46" fmla="*/ 5923255 w 6858001"/>
              <a:gd name="connsiteY46" fmla="*/ 132455 h 8030691"/>
              <a:gd name="connsiteX47" fmla="*/ 6079618 w 6858001"/>
              <a:gd name="connsiteY47" fmla="*/ 113629 h 8030691"/>
              <a:gd name="connsiteX48" fmla="*/ 6235294 w 6858001"/>
              <a:gd name="connsiteY48" fmla="*/ 93458 h 8030691"/>
              <a:gd name="connsiteX49" fmla="*/ 6391657 w 6858001"/>
              <a:gd name="connsiteY49" fmla="*/ 73455 h 8030691"/>
              <a:gd name="connsiteX50" fmla="*/ 6547333 w 6858001"/>
              <a:gd name="connsiteY50" fmla="*/ 50091 h 8030691"/>
              <a:gd name="connsiteX51" fmla="*/ 6702324 w 6858001"/>
              <a:gd name="connsiteY51" fmla="*/ 26222 h 8030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8030691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8030691"/>
                </a:lnTo>
                <a:lnTo>
                  <a:pt x="0" y="8030690"/>
                </a:lnTo>
                <a:lnTo>
                  <a:pt x="0" y="477747"/>
                </a:lnTo>
                <a:lnTo>
                  <a:pt x="1" y="477747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4"/>
                </a:lnTo>
                <a:lnTo>
                  <a:pt x="470460" y="63370"/>
                </a:lnTo>
                <a:lnTo>
                  <a:pt x="605563" y="79507"/>
                </a:lnTo>
                <a:lnTo>
                  <a:pt x="757810" y="96484"/>
                </a:lnTo>
                <a:lnTo>
                  <a:pt x="923774" y="114469"/>
                </a:lnTo>
                <a:lnTo>
                  <a:pt x="1104139" y="132455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50"/>
                </a:lnTo>
                <a:lnTo>
                  <a:pt x="2187703" y="212969"/>
                </a:lnTo>
                <a:lnTo>
                  <a:pt x="2436649" y="226249"/>
                </a:lnTo>
                <a:lnTo>
                  <a:pt x="2564208" y="230955"/>
                </a:lnTo>
                <a:lnTo>
                  <a:pt x="2694509" y="236166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2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3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0" name="Freeform 23">
            <a:extLst>
              <a:ext uri="{FF2B5EF4-FFF2-40B4-BE49-F238E27FC236}">
                <a16:creationId xmlns:a16="http://schemas.microsoft.com/office/drawing/2014/main" id="{0E38218E-B21F-433A-BB44-F15DE7DC66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18">
            <a:extLst>
              <a:ext uri="{FF2B5EF4-FFF2-40B4-BE49-F238E27FC236}">
                <a16:creationId xmlns:a16="http://schemas.microsoft.com/office/drawing/2014/main" id="{080DD7D4-CD57-4577-ACCC-43E1C72F7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40CB7E-3DC6-1C53-9381-5F73318B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725A04B-6C01-430F-BBE6-0BFF217C666F}" type="slidenum">
              <a:rPr lang="es-ES" smtClean="0"/>
              <a:pPr>
                <a:spcAft>
                  <a:spcPts val="600"/>
                </a:spcAft>
              </a:pPr>
              <a:t>5</a:t>
            </a:fld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47EB55-EF29-C278-2CCD-894E148C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3088493"/>
            <a:ext cx="3104751" cy="2931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1600" dirty="0"/>
              <a:t>El ADC mantiene misma estructura que en las pruebas DC</a:t>
            </a:r>
          </a:p>
          <a:p>
            <a:pPr marL="0" indent="0">
              <a:buNone/>
            </a:pPr>
            <a:r>
              <a:rPr lang="es-ES" sz="1600" dirty="0"/>
              <a:t>El DAC debe tener un analizador de espectro en vez de un AD2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E988608-4FA8-59B8-D148-BBA7A03B6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90290" y="5770066"/>
            <a:ext cx="1464345" cy="304801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bg1">
                    <a:alpha val="60000"/>
                  </a:schemeClr>
                </a:solidFill>
              </a:rPr>
              <a:t>Esquema del ADC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46EADCF7-E88A-A69C-5648-D12B29045F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452" y="1871064"/>
            <a:ext cx="3148022" cy="3725470"/>
          </a:xfrm>
          <a:prstGeom prst="rect">
            <a:avLst/>
          </a:prstGeom>
          <a:effectLst/>
        </p:spPr>
      </p:pic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82B3C30-EEF3-3025-F8B1-91946E2D3787}"/>
              </a:ext>
            </a:extLst>
          </p:cNvPr>
          <p:cNvSpPr txBox="1">
            <a:spLocks/>
          </p:cNvSpPr>
          <p:nvPr/>
        </p:nvSpPr>
        <p:spPr>
          <a:xfrm>
            <a:off x="9235929" y="5770065"/>
            <a:ext cx="1464345" cy="304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100" b="0" i="0" kern="1200">
                <a:solidFill>
                  <a:schemeClr val="tx1">
                    <a:tint val="75000"/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>
                <a:solidFill>
                  <a:schemeClr val="bg1">
                    <a:alpha val="60000"/>
                  </a:schemeClr>
                </a:solidFill>
              </a:rPr>
              <a:t>Esquema del DAC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336B1E2E-E3F1-CD13-356C-9734A5AB28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0654" y="1886891"/>
            <a:ext cx="3074893" cy="3709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602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CAD3F-BD2E-C931-7B75-7167ED1A2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Modificación </a:t>
            </a:r>
            <a:r>
              <a:rPr lang="es-ES" dirty="0" err="1"/>
              <a:t>Vref</a:t>
            </a:r>
            <a:r>
              <a:rPr lang="es-ES" dirty="0"/>
              <a:t> ADC STM32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B1B3DB-44F1-76CD-00CD-DFF141869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5781040"/>
            <a:ext cx="8946541" cy="46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1400" dirty="0"/>
              <a:t>Imágenes obtenidas del </a:t>
            </a:r>
            <a:r>
              <a:rPr lang="es-ES" sz="1400" dirty="0" err="1"/>
              <a:t>datasheet</a:t>
            </a:r>
            <a:r>
              <a:rPr lang="es-ES" sz="1400" dirty="0"/>
              <a:t> de la tarjeta STMT32 L476RG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7D1E7A5-289E-4003-21B6-33B6D7C41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A00B2E5-9058-AC82-0C96-C7C2152C8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6</a:t>
            </a:fld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8870C05-1579-1B32-8681-07447DF7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4236" y="2616890"/>
            <a:ext cx="4191363" cy="240050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31C47598-E4A5-E875-33EA-C0FDCE437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19" y="2434443"/>
            <a:ext cx="5628981" cy="276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016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D4D4-1630-BD6B-986B-4139BF362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Trabajo durante receso: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3E2757-F2D6-69A2-97E1-A2E35FB65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s-ES" dirty="0"/>
              <a:t>Métricas DC ADC del ESP32</a:t>
            </a:r>
          </a:p>
          <a:p>
            <a:pPr marL="457200" indent="-457200">
              <a:buFont typeface="+mj-lt"/>
              <a:buAutoNum type="arabicPeriod"/>
            </a:pPr>
            <a:r>
              <a:rPr lang="es-ES" dirty="0"/>
              <a:t>Métricas AC de los ADC de ambas tarjetas</a:t>
            </a:r>
          </a:p>
          <a:p>
            <a:pPr marL="457200" indent="-457200">
              <a:buFont typeface="+mj-lt"/>
              <a:buAutoNum type="arabicPeriod"/>
            </a:pPr>
            <a:r>
              <a:rPr lang="es-ES" dirty="0"/>
              <a:t>Comparativa post calibrado</a:t>
            </a:r>
          </a:p>
          <a:p>
            <a:pPr marL="457200" indent="-457200">
              <a:buFont typeface="+mj-lt"/>
              <a:buAutoNum type="arabicPeriod"/>
            </a:pPr>
            <a:r>
              <a:rPr lang="es-ES" dirty="0"/>
              <a:t>Documentar curva de transferencia al calentar las tarjetas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EB44F07-3C2A-B0E4-FB53-62549C39D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0594688-77A8-CF7D-B7E6-86304696C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64139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1503</TotalTime>
  <Words>252</Words>
  <Application>Microsoft Office PowerPoint</Application>
  <PresentationFormat>Panorámica</PresentationFormat>
  <Paragraphs>35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Aptos</vt:lpstr>
      <vt:lpstr>Century Gothic</vt:lpstr>
      <vt:lpstr>Wingdings 3</vt:lpstr>
      <vt:lpstr>Ion</vt:lpstr>
      <vt:lpstr>Caracterización de ADC y DAC de microcontroladores</vt:lpstr>
      <vt:lpstr>Objetivo General</vt:lpstr>
      <vt:lpstr>Objetivos específicos</vt:lpstr>
      <vt:lpstr>Previa a obtención de métricas AC DAC y STM32</vt:lpstr>
      <vt:lpstr>Previa a obtención de métricas AC DAC y STM32</vt:lpstr>
      <vt:lpstr>Modificación Vref ADC STM32</vt:lpstr>
      <vt:lpstr>Trabajo durante receso: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Sanchez Perez (Alumno)</dc:creator>
  <cp:lastModifiedBy>Sebastian Sanchez Perez (Alumno)</cp:lastModifiedBy>
  <cp:revision>28</cp:revision>
  <dcterms:created xsi:type="dcterms:W3CDTF">2026-04-12T20:12:28Z</dcterms:created>
  <dcterms:modified xsi:type="dcterms:W3CDTF">2026-05-12T15:48:43Z</dcterms:modified>
</cp:coreProperties>
</file>