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268" r:id="rId4"/>
    <p:sldId id="292" r:id="rId5"/>
    <p:sldId id="296" r:id="rId6"/>
    <p:sldId id="297" r:id="rId7"/>
    <p:sldId id="298" r:id="rId8"/>
    <p:sldId id="294" r:id="rId9"/>
    <p:sldId id="280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9350F-2939-4458-8D71-3F15E74601A9}" type="datetimeFigureOut">
              <a:rPr lang="es-ES" smtClean="0"/>
              <a:t>02/06/2026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F878-C97D-4BE2-B675-011D6B6D452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078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2F42-ECF8-67AB-B4D3-9BB79D5AF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9C6CCC-FC50-6B81-54A1-D4E165F1F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FB198E-06B3-5916-A774-D01CDC6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174E-6725-4DA7-9A8F-10708BCA6C53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A619E9-A5F2-9D46-3A2C-41A01198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9F9F9-E9C3-3F3E-507E-7C5BB9F1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891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F5695-F18E-CBA8-4638-0DF098EF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24158F-C541-6F35-0B67-F7B60ACE1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F2F9B5-4B32-53CC-E3D4-B90D1225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6AE57-678C-4474-BCAF-A1C1D01D9923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D611A6-8DB3-E99E-1616-D77F81A7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D4036-E385-757F-6585-A73D22B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10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0B0C7-254B-8B1A-CB66-1EA34BF0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51B32-8041-5DD5-9C79-63A600F27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EB102-8446-1614-82D6-3531FA1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44EE-D81E-4C7F-A938-20181987BA6B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DB68F8-EEF2-5854-C428-7CC655C3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1C6114-2CF0-5EFA-6CBE-A70B4F8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6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F5F5D-B7E9-479D-27FD-22F8E491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4F9902-5417-069B-46A7-69562C0C1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B12A47-EB08-B914-AF6F-8D42F489E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F1C667-6A92-4603-4472-7704CDEE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AF70-6DC3-49DB-8469-3FD7C3DF5C2E}" type="datetime1">
              <a:rPr lang="es-ES" smtClean="0"/>
              <a:t>02/06/2026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E808CB-D845-E05D-81CF-4A95887E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A2FCA4-20FD-FEF5-6310-BB106509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61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E5D65-FA05-32F0-54C7-8BA5D724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CA1E4-3B38-9ECE-4034-26A823495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E62DE0-E0DE-BCAB-77E3-E4A9FF96A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A6FCD9-6905-193C-1733-C92B3C9CB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1B0DC3-CE63-2903-C845-5285C5D6F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051181-3F03-AA19-6919-0664E0E8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BBE8-6FAC-4BD3-965B-CE24F796E336}" type="datetime1">
              <a:rPr lang="es-ES" smtClean="0"/>
              <a:t>02/06/2026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42668B-1889-0894-ABE9-312364C7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6D61D4-4828-7BB4-6AFF-1708EEC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68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A1266-EF47-4451-6F4E-45D5E4D6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85C14F-1B03-171A-561A-A58EB543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2F9-238F-4FB1-8B2A-D4A4337555AF}" type="datetime1">
              <a:rPr lang="es-ES" smtClean="0"/>
              <a:t>02/06/2026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794885-FAFF-6F1B-7719-AC6D909F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62D108-4416-1019-B29F-67BF767B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5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5D0E32-5BF7-D7F6-645F-C4C7FE4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BAA2-4E3A-4749-9C95-C97D8416C792}" type="datetime1">
              <a:rPr lang="es-ES" smtClean="0"/>
              <a:t>02/06/2026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594E04-2BF7-6238-A9D2-35ADCF17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02517F-B15C-B742-6D66-E24CC6E5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E94F9-FA1B-8CDA-B816-31D1F3CD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3DDE5-630C-8F57-9AB0-7ED9A405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84EFD3-48FF-EA5D-7684-5FFF7D18F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AFCF12-CED4-1AC1-0309-879D333F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FCA8-6CCF-4D46-B1C6-78E050CA5BBC}" type="datetime1">
              <a:rPr lang="es-ES" smtClean="0"/>
              <a:t>02/06/2026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5CCAF-28CA-EE09-5BB5-C35F8E40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F35DBF-B751-3A4A-B9F9-4592CD40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29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F9495-E4B0-6777-9499-47F8F18F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7DFA85-3344-1EA2-E115-22855C1B3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DF6EE4-8B35-2130-610A-820DB1F0F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AC1441-5C66-1B71-EC57-30AB4AB3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B887-773C-4083-9C59-A03E7CE6E670}" type="datetime1">
              <a:rPr lang="es-ES" smtClean="0"/>
              <a:t>02/06/2026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EAEF0A-6CC0-8D0D-E728-9F44717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849E0C-F1C1-8509-0CFB-E80DE307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502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2619A-383A-D18C-A0B1-E2481995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80657-5AB3-5735-4AD9-AAEB6C322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82BD3-69D6-4365-2557-A18EA1AE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CC12-3AAD-493A-B056-FC6E58CED972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115AE5-A24B-06EE-3801-5BBEB539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BB953F-CA01-02BF-FE05-DEACD8F2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7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D12A9E-66C7-2D0A-F3A7-7395C2F97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5834BB-9280-07A9-569F-B2E8C5547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F4119-5460-1818-013A-3DB2D92D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5989-7D34-4CB0-BE8D-094F4093C5BE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EA734-B501-E7C9-0FCB-735CFB67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04CFD8-3E23-D8E6-E84F-51F8CEEB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71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68B6A64-BF10-0296-8BF9-28C23E44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124651-F781-68FC-64DF-8AAA0784D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62312-258F-20CB-AA49-062194342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07928-303A-499E-B86C-8D170FB3D7EF}" type="datetime1">
              <a:rPr lang="es-ES" smtClean="0"/>
              <a:t>02/06/2026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00B7C-36D5-0BF3-E39C-82C76AB77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7704D-3701-D896-F4F5-A4E546CC2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04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F913-F19F-111C-F69E-7A31797FC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878" y="2005709"/>
            <a:ext cx="8654243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Caracterización de ADC y DAC de microcontroladores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8D4090-8606-687E-F576-7C266EB4D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6304"/>
            <a:ext cx="9144000" cy="1655762"/>
          </a:xfrm>
        </p:spPr>
        <p:txBody>
          <a:bodyPr/>
          <a:lstStyle/>
          <a:p>
            <a:r>
              <a:rPr lang="es-ES" dirty="0"/>
              <a:t>Por: Sebastián Sánchez</a:t>
            </a:r>
          </a:p>
          <a:p>
            <a:r>
              <a:rPr lang="es-ES" dirty="0"/>
              <a:t>Profesor: Alejandro Weinstein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4D27E-3252-745D-E48E-D8A7D14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E3D29-99E6-F3A2-6ECC-BF12468D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8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BD45-D414-D162-B961-410B924D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General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922B-3F90-83DE-4C42-543B57B1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Validar métricas de desempeño de periféricos análogos de los microcontroladores STM32 l476RG y ESP32 S3 mini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8DD1-EE3B-6005-1EF2-6D727F09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71B0C7-5901-5031-36A8-C793F31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31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79EA-C185-2BEC-536D-F60FF85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CD2E8-12E3-785F-E414-3D85C375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740678"/>
          </a:xfrm>
        </p:spPr>
        <p:txBody>
          <a:bodyPr>
            <a:normAutofit/>
          </a:bodyPr>
          <a:lstStyle/>
          <a:p>
            <a:r>
              <a:rPr lang="es-ES" sz="2400" dirty="0"/>
              <a:t>Caracterizar el ADC de la SMT32 L476RG y ESP32 S3 mini</a:t>
            </a:r>
          </a:p>
          <a:p>
            <a:r>
              <a:rPr lang="es-ES" sz="2400" dirty="0"/>
              <a:t>Caracterizar el DAC de la STM32 L476RG</a:t>
            </a:r>
          </a:p>
          <a:p>
            <a:r>
              <a:rPr lang="es-ES" sz="2400" dirty="0"/>
              <a:t>Generar tabla comparativa de periféricos análogos entre estos microcontroladores antes y después de calibrarlos.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FA5DB-F33F-A69D-3A6C-4FEF5780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493EF-472F-56C4-85B9-DF4F5D44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829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F31F-5B0A-F9B3-F1EA-6DB50A3C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DC STM32 fuente análoga </a:t>
            </a:r>
            <a:r>
              <a:rPr lang="es-ES" dirty="0" err="1"/>
              <a:t>Tektronix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48743-5B4B-FD19-E6F1-C955EF32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5480" cy="4351338"/>
          </a:xfrm>
        </p:spPr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BE9337-D821-040F-031A-B5E7D3F9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48148C-050D-E761-1057-B5527C92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4</a:t>
            </a:fld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5C0FE0A-10D3-FB0E-C3FE-1BB226D3D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32450"/>
              </p:ext>
            </p:extLst>
          </p:nvPr>
        </p:nvGraphicFramePr>
        <p:xfrm>
          <a:off x="838200" y="3187658"/>
          <a:ext cx="51918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153">
                  <a:extLst>
                    <a:ext uri="{9D8B030D-6E8A-4147-A177-3AD203B41FA5}">
                      <a16:colId xmlns:a16="http://schemas.microsoft.com/office/drawing/2014/main" val="2634315839"/>
                    </a:ext>
                  </a:extLst>
                </a:gridCol>
                <a:gridCol w="1832154">
                  <a:extLst>
                    <a:ext uri="{9D8B030D-6E8A-4147-A177-3AD203B41FA5}">
                      <a16:colId xmlns:a16="http://schemas.microsoft.com/office/drawing/2014/main" val="1282910844"/>
                    </a:ext>
                  </a:extLst>
                </a:gridCol>
                <a:gridCol w="1556552">
                  <a:extLst>
                    <a:ext uri="{9D8B030D-6E8A-4147-A177-3AD203B41FA5}">
                      <a16:colId xmlns:a16="http://schemas.microsoft.com/office/drawing/2014/main" val="268278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Medido (mejor)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Datasheet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10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-1,18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4-4,5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2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0,5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 – 4 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5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21,74 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2,5 – 3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3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2,2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1,5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49580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6BFC93F6-7A5F-FFD9-5623-161651DC4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941" y="2636667"/>
            <a:ext cx="5351202" cy="296127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8B15028-B970-8752-9C69-B45C79E274E3}"/>
              </a:ext>
            </a:extLst>
          </p:cNvPr>
          <p:cNvSpPr txBox="1"/>
          <p:nvPr/>
        </p:nvSpPr>
        <p:spPr>
          <a:xfrm>
            <a:off x="838201" y="2388093"/>
            <a:ext cx="5102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Problemas con una configuración correcta de la señal de entrada.</a:t>
            </a:r>
          </a:p>
        </p:txBody>
      </p:sp>
    </p:spTree>
    <p:extLst>
      <p:ext uri="{BB962C8B-B14F-4D97-AF65-F5344CB8AC3E}">
        <p14:creationId xmlns:p14="http://schemas.microsoft.com/office/powerpoint/2010/main" val="309572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6031-5EA3-F0D5-9D55-25E368AC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A98E-2CFC-714A-F46A-3883CB80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DC STM32 Rigol DG1022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4D6C3B-305E-30A8-812E-F4ED6C62C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5480" cy="4351338"/>
          </a:xfrm>
        </p:spPr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5F6B3F-6CE4-C52B-E4D8-EBAEB14B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BF53F8-8AC2-AD3F-FECC-6CA1796B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5</a:t>
            </a:fld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C0C009C-05A5-FDCF-FC9B-2B36D4C51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46594"/>
              </p:ext>
            </p:extLst>
          </p:nvPr>
        </p:nvGraphicFramePr>
        <p:xfrm>
          <a:off x="838200" y="3187658"/>
          <a:ext cx="51918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153">
                  <a:extLst>
                    <a:ext uri="{9D8B030D-6E8A-4147-A177-3AD203B41FA5}">
                      <a16:colId xmlns:a16="http://schemas.microsoft.com/office/drawing/2014/main" val="2634315839"/>
                    </a:ext>
                  </a:extLst>
                </a:gridCol>
                <a:gridCol w="1832154">
                  <a:extLst>
                    <a:ext uri="{9D8B030D-6E8A-4147-A177-3AD203B41FA5}">
                      <a16:colId xmlns:a16="http://schemas.microsoft.com/office/drawing/2014/main" val="1282910844"/>
                    </a:ext>
                  </a:extLst>
                </a:gridCol>
                <a:gridCol w="1556552">
                  <a:extLst>
                    <a:ext uri="{9D8B030D-6E8A-4147-A177-3AD203B41FA5}">
                      <a16:colId xmlns:a16="http://schemas.microsoft.com/office/drawing/2014/main" val="268278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Medido (mejor)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Datasheet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10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0,99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4 - 4,5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2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22,04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 – 4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5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14,56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2,5 – 3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3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2,25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1,5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49580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0824E70D-C556-9EBE-1DC6-007C78809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332" y="2618348"/>
            <a:ext cx="4998128" cy="276589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0A4A9E-77B0-2993-7C2F-639F34A4A625}"/>
              </a:ext>
            </a:extLst>
          </p:cNvPr>
          <p:cNvSpPr txBox="1"/>
          <p:nvPr/>
        </p:nvSpPr>
        <p:spPr>
          <a:xfrm>
            <a:off x="838201" y="2388093"/>
            <a:ext cx="5102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Offset considerable del generador en el orden de los 30-40mV (37-50 LSB)</a:t>
            </a:r>
          </a:p>
        </p:txBody>
      </p:sp>
    </p:spTree>
    <p:extLst>
      <p:ext uri="{BB962C8B-B14F-4D97-AF65-F5344CB8AC3E}">
        <p14:creationId xmlns:p14="http://schemas.microsoft.com/office/powerpoint/2010/main" val="675818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7CAEF-5BBF-E2D1-70A2-DEA39C49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iniciales con AD2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831874-0448-35F9-B768-765F4529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8DA30E-CCDD-7C66-11BD-944EAEF5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F9E279-A65A-AE86-8BBC-549BC96A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6</a:t>
            </a:fld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4F0E44F-3D8A-F1C4-9A01-B0DDF306A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52287"/>
              </p:ext>
            </p:extLst>
          </p:nvPr>
        </p:nvGraphicFramePr>
        <p:xfrm>
          <a:off x="2032000" y="307419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9466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96592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968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 (LSB)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Datasheet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8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Ganancia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4 - 4.5</a:t>
                      </a:r>
                      <a:r>
                        <a:rPr lang="es-ES" sz="1800" dirty="0"/>
                        <a:t>*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00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Offset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09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2.5 –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06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05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93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BB910-C42A-8CD1-17AC-D5ECCFE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 de lo obtenido previamente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F49A1E-AFF2-2590-26BD-45A8B61DA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AD2 si era una alternativa viable para poder generar las mediciones.</a:t>
            </a:r>
          </a:p>
          <a:p>
            <a:r>
              <a:rPr lang="es-ES" dirty="0"/>
              <a:t>El generador de señales análogo no es ideal para estas mediciones debido a su mal funcionamiento.</a:t>
            </a:r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5DF921-E367-6770-0DFD-F3414F90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3131F6-0535-95A0-1682-DF0BB76D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011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AD076-E7AD-D35A-004B-30E6CDAC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Modificación medición AC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8303D3-B49C-E130-1306-99491EF3E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s-ES" dirty="0"/>
              <a:t>Se modifica la configuración del </a:t>
            </a:r>
            <a:r>
              <a:rPr lang="es-ES" dirty="0" err="1"/>
              <a:t>ioc</a:t>
            </a:r>
            <a:r>
              <a:rPr lang="es-ES" dirty="0"/>
              <a:t> para que el ADC pueda operar a 100 kHz.</a:t>
            </a:r>
          </a:p>
          <a:p>
            <a:pPr lvl="1"/>
            <a:r>
              <a:rPr lang="es-ES" dirty="0"/>
              <a:t>En tarea 1 se demostró que es posible con DMA e interrupciones. Sin embargo, se prefirió una ruta más segura.</a:t>
            </a:r>
          </a:p>
          <a:p>
            <a:pPr lvl="1"/>
            <a:r>
              <a:rPr lang="es-ES" dirty="0"/>
              <a:t>Timer 2 sin interrupciones, más bien configurado como evento para </a:t>
            </a:r>
            <a:r>
              <a:rPr lang="es-ES" dirty="0" err="1"/>
              <a:t>trigger</a:t>
            </a:r>
            <a:r>
              <a:rPr lang="es-ES" dirty="0"/>
              <a:t> de periféricos.</a:t>
            </a:r>
          </a:p>
          <a:p>
            <a:pPr lvl="1"/>
            <a:r>
              <a:rPr lang="es-ES" dirty="0"/>
              <a:t>Transferencia continua de medición </a:t>
            </a:r>
            <a:r>
              <a:rPr lang="es-ES" dirty="0" err="1"/>
              <a:t>via</a:t>
            </a:r>
            <a:r>
              <a:rPr lang="es-ES" dirty="0"/>
              <a:t> DMA.</a:t>
            </a:r>
          </a:p>
          <a:p>
            <a:r>
              <a:rPr lang="es-ES" dirty="0"/>
              <a:t>No se logró arreglar medición a tiempo. Se asume error generado previamente al no considerar una FFT con ventana al procesar los datos.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C631FA-9B4B-A1BC-62BE-84B103E7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BD6D32-74DB-F0D1-3663-F24A9D10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95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D4D4-1630-BD6B-986B-4139BF36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Trabajo para esta semana: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E2757-F2D6-69A2-97E1-A2E35FB6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Validación métricas AC STM32 (martes)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Métricas completas ESP32 (miércoles)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Informe (jueves)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Calibración de tarjetas (lunes)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B44F07-3C2A-B0E4-FB53-62549C39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94688-77A8-CF7D-B7E6-86304696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413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</TotalTime>
  <Words>373</Words>
  <Application>Microsoft Office PowerPoint</Application>
  <PresentationFormat>Panorámica</PresentationFormat>
  <Paragraphs>82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Caracterización de ADC y DAC de microcontroladores</vt:lpstr>
      <vt:lpstr>Objetivo General</vt:lpstr>
      <vt:lpstr>Objetivos específicos</vt:lpstr>
      <vt:lpstr>Mediciones DC STM32 fuente análoga Tektronix</vt:lpstr>
      <vt:lpstr>Mediciones DC STM32 Rigol DG1022</vt:lpstr>
      <vt:lpstr>Mediciones iniciales con AD2</vt:lpstr>
      <vt:lpstr>Conclusión de lo obtenido previamente</vt:lpstr>
      <vt:lpstr>Modificación medición AC</vt:lpstr>
      <vt:lpstr>Trabajo para esta semana: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Sanchez Perez (Alumno)</dc:creator>
  <cp:lastModifiedBy>Sebastian Sanchez Perez (Alumno)</cp:lastModifiedBy>
  <cp:revision>38</cp:revision>
  <dcterms:created xsi:type="dcterms:W3CDTF">2026-04-12T20:12:28Z</dcterms:created>
  <dcterms:modified xsi:type="dcterms:W3CDTF">2026-06-02T15:01:25Z</dcterms:modified>
</cp:coreProperties>
</file>