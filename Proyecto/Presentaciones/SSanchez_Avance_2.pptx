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8" r:id="rId4"/>
    <p:sldId id="266" r:id="rId5"/>
    <p:sldId id="267" r:id="rId6"/>
    <p:sldId id="269" r:id="rId7"/>
    <p:sldId id="272" r:id="rId8"/>
    <p:sldId id="270" r:id="rId9"/>
    <p:sldId id="273" r:id="rId10"/>
    <p:sldId id="271" r:id="rId11"/>
    <p:sldId id="274" r:id="rId12"/>
    <p:sldId id="275" r:id="rId13"/>
    <p:sldId id="277" r:id="rId14"/>
    <p:sldId id="276"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20661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150677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304620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87B8D98-B142-4FF0-82B8-69A272E19745}" type="datetimeFigureOut">
              <a:rPr lang="es-ES" smtClean="0"/>
              <a:t>21/04/2026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3377792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87B8D98-B142-4FF0-82B8-69A272E19745}" type="datetimeFigureOut">
              <a:rPr lang="es-ES" smtClean="0"/>
              <a:t>21/04/2026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82562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87B8D98-B142-4FF0-82B8-69A272E19745}" type="datetimeFigureOut">
              <a:rPr lang="es-ES" smtClean="0"/>
              <a:t>21/04/2026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884175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7B8D98-B142-4FF0-82B8-69A272E19745}" type="datetimeFigureOut">
              <a:rPr lang="es-ES" smtClean="0"/>
              <a:t>21/04/2026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2376837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7B8D98-B142-4FF0-82B8-69A272E19745}" type="datetimeFigureOut">
              <a:rPr lang="es-ES" smtClean="0"/>
              <a:t>21/04/2026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400514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7B8D98-B142-4FF0-82B8-69A272E19745}" type="datetimeFigureOut">
              <a:rPr lang="es-ES" smtClean="0"/>
              <a:t>21/04/2026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518338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110656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06419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3772608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10132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3743998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1778738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7B8D98-B142-4FF0-82B8-69A272E19745}" type="datetimeFigureOut">
              <a:rPr lang="es-ES" smtClean="0"/>
              <a:t>21/04/2026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725A04B-6C01-430F-BBE6-0BFF217C666F}" type="slidenum">
              <a:rPr lang="es-ES" smtClean="0"/>
              <a:t>‹Nº›</a:t>
            </a:fld>
            <a:endParaRPr lang="es-ES"/>
          </a:p>
        </p:txBody>
      </p:sp>
    </p:spTree>
    <p:extLst>
      <p:ext uri="{BB962C8B-B14F-4D97-AF65-F5344CB8AC3E}">
        <p14:creationId xmlns:p14="http://schemas.microsoft.com/office/powerpoint/2010/main" val="162863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87B8D98-B142-4FF0-82B8-69A272E19745}" type="datetimeFigureOut">
              <a:rPr lang="es-ES" smtClean="0"/>
              <a:t>21/04/2026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725A04B-6C01-430F-BBE6-0BFF217C666F}" type="slidenum">
              <a:rPr lang="es-ES" smtClean="0"/>
              <a:t>‹Nº›</a:t>
            </a:fld>
            <a:endParaRPr lang="es-ES"/>
          </a:p>
        </p:txBody>
      </p:sp>
    </p:spTree>
    <p:extLst>
      <p:ext uri="{BB962C8B-B14F-4D97-AF65-F5344CB8AC3E}">
        <p14:creationId xmlns:p14="http://schemas.microsoft.com/office/powerpoint/2010/main" val="4140688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64F913-F19F-111C-F69E-7A31797FCF74}"/>
              </a:ext>
            </a:extLst>
          </p:cNvPr>
          <p:cNvSpPr>
            <a:spLocks noGrp="1"/>
          </p:cNvSpPr>
          <p:nvPr>
            <p:ph type="ctrTitle"/>
          </p:nvPr>
        </p:nvSpPr>
        <p:spPr>
          <a:xfrm>
            <a:off x="619760" y="2404534"/>
            <a:ext cx="8654243" cy="1646302"/>
          </a:xfrm>
        </p:spPr>
        <p:txBody>
          <a:bodyPr/>
          <a:lstStyle/>
          <a:p>
            <a:r>
              <a:rPr lang="es-ES" dirty="0"/>
              <a:t>Caracterización de ADC y DAC de microcontroladores</a:t>
            </a:r>
          </a:p>
        </p:txBody>
      </p:sp>
      <p:sp>
        <p:nvSpPr>
          <p:cNvPr id="3" name="Subtítulo 2">
            <a:extLst>
              <a:ext uri="{FF2B5EF4-FFF2-40B4-BE49-F238E27FC236}">
                <a16:creationId xmlns:a16="http://schemas.microsoft.com/office/drawing/2014/main" id="{488D4090-8606-687E-F576-7C266EB4DD75}"/>
              </a:ext>
            </a:extLst>
          </p:cNvPr>
          <p:cNvSpPr>
            <a:spLocks noGrp="1"/>
          </p:cNvSpPr>
          <p:nvPr>
            <p:ph type="subTitle" idx="1"/>
          </p:nvPr>
        </p:nvSpPr>
        <p:spPr/>
        <p:txBody>
          <a:bodyPr/>
          <a:lstStyle/>
          <a:p>
            <a:r>
              <a:rPr lang="es-ES" dirty="0"/>
              <a:t>Por: Sebastián Sánchez</a:t>
            </a:r>
          </a:p>
          <a:p>
            <a:r>
              <a:rPr lang="es-ES" dirty="0"/>
              <a:t>Profesor: Alejandro Weinstein</a:t>
            </a:r>
          </a:p>
        </p:txBody>
      </p:sp>
    </p:spTree>
    <p:extLst>
      <p:ext uri="{BB962C8B-B14F-4D97-AF65-F5344CB8AC3E}">
        <p14:creationId xmlns:p14="http://schemas.microsoft.com/office/powerpoint/2010/main" val="2605826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3CBD45-D414-D162-B961-410B924DAB7D}"/>
              </a:ext>
            </a:extLst>
          </p:cNvPr>
          <p:cNvSpPr>
            <a:spLocks noGrp="1"/>
          </p:cNvSpPr>
          <p:nvPr>
            <p:ph type="title"/>
          </p:nvPr>
        </p:nvSpPr>
        <p:spPr/>
        <p:txBody>
          <a:bodyPr/>
          <a:lstStyle/>
          <a:p>
            <a:r>
              <a:rPr lang="es-ES"/>
              <a:t>Objetivo General</a:t>
            </a:r>
            <a:endParaRPr lang="es-ES" dirty="0"/>
          </a:p>
        </p:txBody>
      </p:sp>
      <p:sp>
        <p:nvSpPr>
          <p:cNvPr id="3" name="Marcador de contenido 2">
            <a:extLst>
              <a:ext uri="{FF2B5EF4-FFF2-40B4-BE49-F238E27FC236}">
                <a16:creationId xmlns:a16="http://schemas.microsoft.com/office/drawing/2014/main" id="{F92E922B-3F90-83DE-4C42-543B57B10DF8}"/>
              </a:ext>
            </a:extLst>
          </p:cNvPr>
          <p:cNvSpPr>
            <a:spLocks noGrp="1"/>
          </p:cNvSpPr>
          <p:nvPr>
            <p:ph idx="1"/>
          </p:nvPr>
        </p:nvSpPr>
        <p:spPr/>
        <p:txBody>
          <a:bodyPr>
            <a:normAutofit/>
          </a:bodyPr>
          <a:lstStyle/>
          <a:p>
            <a:r>
              <a:rPr lang="es-ES" sz="2400" dirty="0"/>
              <a:t>Validar métricas de desempeño de periféricos análogos de los microcontroladores STM32 y ESP32</a:t>
            </a:r>
          </a:p>
        </p:txBody>
      </p:sp>
    </p:spTree>
    <p:extLst>
      <p:ext uri="{BB962C8B-B14F-4D97-AF65-F5344CB8AC3E}">
        <p14:creationId xmlns:p14="http://schemas.microsoft.com/office/powerpoint/2010/main" val="351031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1379EA-C185-2BEC-536D-F60FF85E27AF}"/>
              </a:ext>
            </a:extLst>
          </p:cNvPr>
          <p:cNvSpPr>
            <a:spLocks noGrp="1"/>
          </p:cNvSpPr>
          <p:nvPr>
            <p:ph type="title"/>
          </p:nvPr>
        </p:nvSpPr>
        <p:spPr/>
        <p:txBody>
          <a:bodyPr/>
          <a:lstStyle/>
          <a:p>
            <a:r>
              <a:rPr lang="es-ES" dirty="0"/>
              <a:t>Objetivos específicos</a:t>
            </a:r>
          </a:p>
        </p:txBody>
      </p:sp>
      <p:sp>
        <p:nvSpPr>
          <p:cNvPr id="3" name="Marcador de contenido 2">
            <a:extLst>
              <a:ext uri="{FF2B5EF4-FFF2-40B4-BE49-F238E27FC236}">
                <a16:creationId xmlns:a16="http://schemas.microsoft.com/office/drawing/2014/main" id="{B35CD2E8-12E3-785F-E414-3D85C3753DA0}"/>
              </a:ext>
            </a:extLst>
          </p:cNvPr>
          <p:cNvSpPr>
            <a:spLocks noGrp="1"/>
          </p:cNvSpPr>
          <p:nvPr>
            <p:ph idx="1"/>
          </p:nvPr>
        </p:nvSpPr>
        <p:spPr/>
        <p:txBody>
          <a:bodyPr>
            <a:normAutofit/>
          </a:bodyPr>
          <a:lstStyle/>
          <a:p>
            <a:r>
              <a:rPr lang="es-ES" sz="2400" dirty="0"/>
              <a:t>Caracterizar el ADC de la SMT32 L476RG	y ESP32 XX</a:t>
            </a:r>
          </a:p>
          <a:p>
            <a:r>
              <a:rPr lang="es-ES" sz="2400" dirty="0"/>
              <a:t>Caracterizar el DAC de la STM32 L476RG y ESP32 XX</a:t>
            </a:r>
          </a:p>
        </p:txBody>
      </p:sp>
    </p:spTree>
    <p:extLst>
      <p:ext uri="{BB962C8B-B14F-4D97-AF65-F5344CB8AC3E}">
        <p14:creationId xmlns:p14="http://schemas.microsoft.com/office/powerpoint/2010/main" val="3178295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516C31-0887-1FD7-DAC3-7B093EC322BB}"/>
              </a:ext>
            </a:extLst>
          </p:cNvPr>
          <p:cNvSpPr>
            <a:spLocks noGrp="1"/>
          </p:cNvSpPr>
          <p:nvPr>
            <p:ph type="title"/>
          </p:nvPr>
        </p:nvSpPr>
        <p:spPr/>
        <p:txBody>
          <a:bodyPr/>
          <a:lstStyle/>
          <a:p>
            <a:r>
              <a:rPr lang="es-ES" dirty="0"/>
              <a:t>Arquitecturas de los periféricos</a:t>
            </a:r>
          </a:p>
        </p:txBody>
      </p:sp>
      <p:sp>
        <p:nvSpPr>
          <p:cNvPr id="3" name="Marcador de contenido 2">
            <a:extLst>
              <a:ext uri="{FF2B5EF4-FFF2-40B4-BE49-F238E27FC236}">
                <a16:creationId xmlns:a16="http://schemas.microsoft.com/office/drawing/2014/main" id="{A98799B5-1E18-CB9A-F5D3-194CDD902294}"/>
              </a:ext>
            </a:extLst>
          </p:cNvPr>
          <p:cNvSpPr>
            <a:spLocks noGrp="1"/>
          </p:cNvSpPr>
          <p:nvPr>
            <p:ph idx="1"/>
          </p:nvPr>
        </p:nvSpPr>
        <p:spPr/>
        <p:txBody>
          <a:bodyPr/>
          <a:lstStyle/>
          <a:p>
            <a:pPr marL="0" indent="0">
              <a:buNone/>
            </a:pPr>
            <a:r>
              <a:rPr lang="es-ES" dirty="0"/>
              <a:t>Tanto STM32 como ESP32 comparten una misma arquitectura para su conversor de datos análogo digital (ADC), específicamente la arquitectura tipo SAR</a:t>
            </a:r>
          </a:p>
        </p:txBody>
      </p:sp>
      <p:pic>
        <p:nvPicPr>
          <p:cNvPr id="1026" name="Picture 2" descr="Successive approximation register ADC (SAR-ADC). | Download Scientific  Diagram">
            <a:extLst>
              <a:ext uri="{FF2B5EF4-FFF2-40B4-BE49-F238E27FC236}">
                <a16:creationId xmlns:a16="http://schemas.microsoft.com/office/drawing/2014/main" id="{551F3B32-D764-E849-A4DF-860850B4A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6218" y="3400425"/>
            <a:ext cx="6438900"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290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D5B98B-3713-C9B7-9EBE-B55B666FB2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C2EB95-69A4-D9C8-63FC-94FC813DE17A}"/>
              </a:ext>
            </a:extLst>
          </p:cNvPr>
          <p:cNvSpPr>
            <a:spLocks noGrp="1"/>
          </p:cNvSpPr>
          <p:nvPr>
            <p:ph type="title"/>
          </p:nvPr>
        </p:nvSpPr>
        <p:spPr>
          <a:xfrm>
            <a:off x="677334" y="609600"/>
            <a:ext cx="8596668" cy="1320800"/>
          </a:xfrm>
        </p:spPr>
        <p:txBody>
          <a:bodyPr anchor="t">
            <a:normAutofit/>
          </a:bodyPr>
          <a:lstStyle/>
          <a:p>
            <a:r>
              <a:rPr lang="es-ES" dirty="0"/>
              <a:t>Arquitecturas de los periféricos</a:t>
            </a:r>
          </a:p>
        </p:txBody>
      </p:sp>
      <p:sp>
        <p:nvSpPr>
          <p:cNvPr id="3" name="Marcador de contenido 2">
            <a:extLst>
              <a:ext uri="{FF2B5EF4-FFF2-40B4-BE49-F238E27FC236}">
                <a16:creationId xmlns:a16="http://schemas.microsoft.com/office/drawing/2014/main" id="{4B96EAA5-B5A9-6895-8C89-010FAA613865}"/>
              </a:ext>
            </a:extLst>
          </p:cNvPr>
          <p:cNvSpPr>
            <a:spLocks noGrp="1"/>
          </p:cNvSpPr>
          <p:nvPr>
            <p:ph idx="1"/>
          </p:nvPr>
        </p:nvSpPr>
        <p:spPr>
          <a:xfrm>
            <a:off x="6336287" y="2160589"/>
            <a:ext cx="2934714" cy="3880773"/>
          </a:xfrm>
        </p:spPr>
        <p:txBody>
          <a:bodyPr>
            <a:normAutofit/>
          </a:bodyPr>
          <a:lstStyle/>
          <a:p>
            <a:pPr marL="0" indent="0">
              <a:buNone/>
            </a:pPr>
            <a:r>
              <a:rPr lang="es-ES" dirty="0"/>
              <a:t>A diferencia del ADC, la STM32 y ESP32 utilizan diferentes arquitecturas para el DAC.</a:t>
            </a:r>
          </a:p>
          <a:p>
            <a:pPr marL="0" indent="0">
              <a:buNone/>
            </a:pPr>
            <a:r>
              <a:rPr lang="es-ES" dirty="0"/>
              <a:t>En el caso de la ESP se utiliza un resistor </a:t>
            </a:r>
            <a:r>
              <a:rPr lang="es-ES" dirty="0" err="1"/>
              <a:t>string</a:t>
            </a:r>
            <a:r>
              <a:rPr lang="es-ES" dirty="0"/>
              <a:t> (figura izquierda) utilizando 2^N resistores.</a:t>
            </a:r>
          </a:p>
          <a:p>
            <a:pPr marL="0" indent="0">
              <a:buNone/>
            </a:pPr>
            <a:r>
              <a:rPr lang="es-ES" dirty="0"/>
              <a:t>En el caso de la STM se utiliza una arquitectura R2R (figura derecha) utilizando 2*N resistores.</a:t>
            </a:r>
          </a:p>
        </p:txBody>
      </p:sp>
      <p:pic>
        <p:nvPicPr>
          <p:cNvPr id="2054" name="Picture 6" descr="Analog to Digital Converters - Circuit Cellar">
            <a:extLst>
              <a:ext uri="{FF2B5EF4-FFF2-40B4-BE49-F238E27FC236}">
                <a16:creationId xmlns:a16="http://schemas.microsoft.com/office/drawing/2014/main" id="{A57615B0-7DFB-A538-D717-80E241BF4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040" b="-2"/>
          <a:stretch>
            <a:fillRect/>
          </a:stretch>
        </p:blipFill>
        <p:spPr bwMode="auto">
          <a:xfrm>
            <a:off x="677334" y="2159331"/>
            <a:ext cx="5423429" cy="388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06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53F3D6-16A8-42C6-197E-2F418A491B2F}"/>
              </a:ext>
            </a:extLst>
          </p:cNvPr>
          <p:cNvSpPr>
            <a:spLocks noGrp="1"/>
          </p:cNvSpPr>
          <p:nvPr>
            <p:ph type="title"/>
          </p:nvPr>
        </p:nvSpPr>
        <p:spPr/>
        <p:txBody>
          <a:bodyPr/>
          <a:lstStyle/>
          <a:p>
            <a:r>
              <a:rPr lang="es-ES" dirty="0"/>
              <a:t>Figuras de Mérito</a:t>
            </a:r>
          </a:p>
        </p:txBody>
      </p:sp>
      <p:graphicFrame>
        <p:nvGraphicFramePr>
          <p:cNvPr id="4" name="Marcador de contenido 3">
            <a:extLst>
              <a:ext uri="{FF2B5EF4-FFF2-40B4-BE49-F238E27FC236}">
                <a16:creationId xmlns:a16="http://schemas.microsoft.com/office/drawing/2014/main" id="{4F702786-6E12-CB91-49D8-A85D67BAEC71}"/>
              </a:ext>
            </a:extLst>
          </p:cNvPr>
          <p:cNvGraphicFramePr>
            <a:graphicFrameLocks noGrp="1"/>
          </p:cNvGraphicFramePr>
          <p:nvPr>
            <p:ph idx="1"/>
            <p:extLst>
              <p:ext uri="{D42A27DB-BD31-4B8C-83A1-F6EECF244321}">
                <p14:modId xmlns:p14="http://schemas.microsoft.com/office/powerpoint/2010/main" val="3507202256"/>
              </p:ext>
            </p:extLst>
          </p:nvPr>
        </p:nvGraphicFramePr>
        <p:xfrm>
          <a:off x="677863" y="2160588"/>
          <a:ext cx="8596311" cy="185420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440017510"/>
                    </a:ext>
                  </a:extLst>
                </a:gridCol>
                <a:gridCol w="2865437">
                  <a:extLst>
                    <a:ext uri="{9D8B030D-6E8A-4147-A177-3AD203B41FA5}">
                      <a16:colId xmlns:a16="http://schemas.microsoft.com/office/drawing/2014/main" val="4283118777"/>
                    </a:ext>
                  </a:extLst>
                </a:gridCol>
                <a:gridCol w="2865437">
                  <a:extLst>
                    <a:ext uri="{9D8B030D-6E8A-4147-A177-3AD203B41FA5}">
                      <a16:colId xmlns:a16="http://schemas.microsoft.com/office/drawing/2014/main" val="230243978"/>
                    </a:ext>
                  </a:extLst>
                </a:gridCol>
              </a:tblGrid>
              <a:tr h="370840">
                <a:tc>
                  <a:txBody>
                    <a:bodyPr/>
                    <a:lstStyle/>
                    <a:p>
                      <a:r>
                        <a:rPr lang="es-ES" dirty="0"/>
                        <a:t>DC</a:t>
                      </a:r>
                    </a:p>
                  </a:txBody>
                  <a:tcPr/>
                </a:tc>
                <a:tc>
                  <a:txBody>
                    <a:bodyPr/>
                    <a:lstStyle/>
                    <a:p>
                      <a:r>
                        <a:rPr lang="es-ES" dirty="0"/>
                        <a:t>AC</a:t>
                      </a:r>
                    </a:p>
                  </a:txBody>
                  <a:tcPr/>
                </a:tc>
                <a:tc>
                  <a:txBody>
                    <a:bodyPr/>
                    <a:lstStyle/>
                    <a:p>
                      <a:r>
                        <a:rPr lang="es-ES" dirty="0"/>
                        <a:t>Otra</a:t>
                      </a:r>
                    </a:p>
                  </a:txBody>
                  <a:tcPr/>
                </a:tc>
                <a:extLst>
                  <a:ext uri="{0D108BD9-81ED-4DB2-BD59-A6C34878D82A}">
                    <a16:rowId xmlns:a16="http://schemas.microsoft.com/office/drawing/2014/main" val="2216630334"/>
                  </a:ext>
                </a:extLst>
              </a:tr>
              <a:tr h="370840">
                <a:tc>
                  <a:txBody>
                    <a:bodyPr/>
                    <a:lstStyle/>
                    <a:p>
                      <a:r>
                        <a:rPr lang="es-ES" dirty="0"/>
                        <a:t>Offset</a:t>
                      </a:r>
                    </a:p>
                  </a:txBody>
                  <a:tcPr/>
                </a:tc>
                <a:tc>
                  <a:txBody>
                    <a:bodyPr/>
                    <a:lstStyle/>
                    <a:p>
                      <a:r>
                        <a:rPr lang="es-ES" dirty="0"/>
                        <a:t>THD</a:t>
                      </a:r>
                    </a:p>
                  </a:txBody>
                  <a:tcPr/>
                </a:tc>
                <a:tc>
                  <a:txBody>
                    <a:bodyPr/>
                    <a:lstStyle/>
                    <a:p>
                      <a:r>
                        <a:rPr lang="es-ES" dirty="0"/>
                        <a:t>Tiempo de conversión</a:t>
                      </a:r>
                    </a:p>
                  </a:txBody>
                  <a:tcPr/>
                </a:tc>
                <a:extLst>
                  <a:ext uri="{0D108BD9-81ED-4DB2-BD59-A6C34878D82A}">
                    <a16:rowId xmlns:a16="http://schemas.microsoft.com/office/drawing/2014/main" val="644268003"/>
                  </a:ext>
                </a:extLst>
              </a:tr>
              <a:tr h="370840">
                <a:tc>
                  <a:txBody>
                    <a:bodyPr/>
                    <a:lstStyle/>
                    <a:p>
                      <a:r>
                        <a:rPr lang="es-ES" dirty="0"/>
                        <a:t>Ganancia</a:t>
                      </a:r>
                    </a:p>
                  </a:txBody>
                  <a:tcPr/>
                </a:tc>
                <a:tc>
                  <a:txBody>
                    <a:bodyPr/>
                    <a:lstStyle/>
                    <a:p>
                      <a:r>
                        <a:rPr lang="es-ES" dirty="0"/>
                        <a:t>SNDR</a:t>
                      </a:r>
                    </a:p>
                  </a:txBody>
                  <a:tcPr/>
                </a:tc>
                <a:tc>
                  <a:txBody>
                    <a:bodyPr/>
                    <a:lstStyle/>
                    <a:p>
                      <a:r>
                        <a:rPr lang="es-ES" dirty="0" err="1"/>
                        <a:t>Msps</a:t>
                      </a:r>
                      <a:endParaRPr lang="es-ES" dirty="0"/>
                    </a:p>
                  </a:txBody>
                  <a:tcPr/>
                </a:tc>
                <a:extLst>
                  <a:ext uri="{0D108BD9-81ED-4DB2-BD59-A6C34878D82A}">
                    <a16:rowId xmlns:a16="http://schemas.microsoft.com/office/drawing/2014/main" val="1996266296"/>
                  </a:ext>
                </a:extLst>
              </a:tr>
              <a:tr h="370840">
                <a:tc>
                  <a:txBody>
                    <a:bodyPr/>
                    <a:lstStyle/>
                    <a:p>
                      <a:r>
                        <a:rPr lang="es-ES" dirty="0"/>
                        <a:t>INL</a:t>
                      </a:r>
                    </a:p>
                  </a:txBody>
                  <a:tcPr/>
                </a:tc>
                <a:tc>
                  <a:txBody>
                    <a:bodyPr/>
                    <a:lstStyle/>
                    <a:p>
                      <a:r>
                        <a:rPr lang="es-ES" dirty="0"/>
                        <a:t>ENOB</a:t>
                      </a:r>
                    </a:p>
                  </a:txBody>
                  <a:tcPr/>
                </a:tc>
                <a:tc>
                  <a:txBody>
                    <a:bodyPr/>
                    <a:lstStyle/>
                    <a:p>
                      <a:r>
                        <a:rPr lang="es-ES" dirty="0" err="1"/>
                        <a:t>Msps</a:t>
                      </a:r>
                      <a:r>
                        <a:rPr lang="es-ES" dirty="0"/>
                        <a:t> v/s resolución</a:t>
                      </a:r>
                    </a:p>
                  </a:txBody>
                  <a:tcPr/>
                </a:tc>
                <a:extLst>
                  <a:ext uri="{0D108BD9-81ED-4DB2-BD59-A6C34878D82A}">
                    <a16:rowId xmlns:a16="http://schemas.microsoft.com/office/drawing/2014/main" val="3933406786"/>
                  </a:ext>
                </a:extLst>
              </a:tr>
              <a:tr h="370840">
                <a:tc>
                  <a:txBody>
                    <a:bodyPr/>
                    <a:lstStyle/>
                    <a:p>
                      <a:r>
                        <a:rPr lang="es-ES" dirty="0"/>
                        <a:t>DNL</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073400198"/>
                  </a:ext>
                </a:extLst>
              </a:tr>
            </a:tbl>
          </a:graphicData>
        </a:graphic>
      </p:graphicFrame>
    </p:spTree>
    <p:extLst>
      <p:ext uri="{BB962C8B-B14F-4D97-AF65-F5344CB8AC3E}">
        <p14:creationId xmlns:p14="http://schemas.microsoft.com/office/powerpoint/2010/main" val="3686631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7A0173-32E6-D128-7127-B0B2FB424A3A}"/>
              </a:ext>
            </a:extLst>
          </p:cNvPr>
          <p:cNvSpPr>
            <a:spLocks noGrp="1"/>
          </p:cNvSpPr>
          <p:nvPr>
            <p:ph type="title"/>
          </p:nvPr>
        </p:nvSpPr>
        <p:spPr/>
        <p:txBody>
          <a:bodyPr/>
          <a:lstStyle/>
          <a:p>
            <a:r>
              <a:rPr lang="es-ES" dirty="0"/>
              <a:t>Insumos</a:t>
            </a:r>
          </a:p>
        </p:txBody>
      </p:sp>
      <p:sp>
        <p:nvSpPr>
          <p:cNvPr id="3" name="Marcador de contenido 2">
            <a:extLst>
              <a:ext uri="{FF2B5EF4-FFF2-40B4-BE49-F238E27FC236}">
                <a16:creationId xmlns:a16="http://schemas.microsoft.com/office/drawing/2014/main" id="{0A76630A-870D-4918-594C-DEB01388A049}"/>
              </a:ext>
            </a:extLst>
          </p:cNvPr>
          <p:cNvSpPr>
            <a:spLocks noGrp="1"/>
          </p:cNvSpPr>
          <p:nvPr>
            <p:ph idx="1"/>
          </p:nvPr>
        </p:nvSpPr>
        <p:spPr/>
        <p:txBody>
          <a:bodyPr/>
          <a:lstStyle/>
          <a:p>
            <a:r>
              <a:rPr lang="es-ES" dirty="0"/>
              <a:t>1 tarjeta STM32 L476RG</a:t>
            </a:r>
          </a:p>
          <a:p>
            <a:r>
              <a:rPr lang="es-ES" dirty="0"/>
              <a:t>1 tarjeta ESP32 S3 mini o WROOM32</a:t>
            </a:r>
          </a:p>
          <a:p>
            <a:r>
              <a:rPr lang="es-ES" dirty="0" err="1"/>
              <a:t>Analog</a:t>
            </a:r>
            <a:r>
              <a:rPr lang="es-ES" dirty="0"/>
              <a:t> Discovery 2</a:t>
            </a:r>
          </a:p>
          <a:p>
            <a:pPr lvl="1"/>
            <a:r>
              <a:rPr lang="es-ES" dirty="0"/>
              <a:t>DAC de 14 bits a 100 </a:t>
            </a:r>
            <a:r>
              <a:rPr lang="es-ES" dirty="0" err="1"/>
              <a:t>Msps</a:t>
            </a:r>
            <a:r>
              <a:rPr lang="es-ES" dirty="0"/>
              <a:t> (</a:t>
            </a:r>
            <a:r>
              <a:rPr lang="es-ES" dirty="0" err="1"/>
              <a:t>Wavegen</a:t>
            </a:r>
            <a:r>
              <a:rPr lang="es-ES" dirty="0"/>
              <a:t>) (offset de +40mV por confirmar)</a:t>
            </a:r>
          </a:p>
          <a:p>
            <a:pPr lvl="1"/>
            <a:r>
              <a:rPr lang="es-ES" dirty="0"/>
              <a:t>ADC de 14 bits a 100 </a:t>
            </a:r>
            <a:r>
              <a:rPr lang="es-ES" dirty="0" err="1"/>
              <a:t>Msps</a:t>
            </a:r>
            <a:r>
              <a:rPr lang="es-ES" dirty="0"/>
              <a:t> (</a:t>
            </a:r>
            <a:r>
              <a:rPr lang="es-ES" dirty="0" err="1"/>
              <a:t>Scope</a:t>
            </a:r>
            <a:r>
              <a:rPr lang="es-ES" dirty="0"/>
              <a:t> o </a:t>
            </a:r>
            <a:r>
              <a:rPr lang="es-ES" dirty="0" err="1"/>
              <a:t>Voltmeter</a:t>
            </a:r>
            <a:r>
              <a:rPr lang="es-ES" dirty="0"/>
              <a:t>)</a:t>
            </a:r>
          </a:p>
          <a:p>
            <a:pPr lvl="1"/>
            <a:r>
              <a:rPr lang="es-ES" dirty="0"/>
              <a:t>Analizador lógico</a:t>
            </a:r>
          </a:p>
          <a:p>
            <a:r>
              <a:rPr lang="es-ES" dirty="0" err="1"/>
              <a:t>Protoboard</a:t>
            </a:r>
            <a:endParaRPr lang="es-ES" dirty="0"/>
          </a:p>
          <a:p>
            <a:r>
              <a:rPr lang="es-ES" dirty="0"/>
              <a:t>Filtro/s pasivo/s (por definir)</a:t>
            </a:r>
          </a:p>
          <a:p>
            <a:r>
              <a:rPr lang="es-ES" dirty="0"/>
              <a:t>Analizador de espectro</a:t>
            </a:r>
          </a:p>
        </p:txBody>
      </p:sp>
    </p:spTree>
    <p:extLst>
      <p:ext uri="{BB962C8B-B14F-4D97-AF65-F5344CB8AC3E}">
        <p14:creationId xmlns:p14="http://schemas.microsoft.com/office/powerpoint/2010/main" val="321617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197F6-D971-EDC6-886E-B83E83808BB3}"/>
              </a:ext>
            </a:extLst>
          </p:cNvPr>
          <p:cNvSpPr>
            <a:spLocks noGrp="1"/>
          </p:cNvSpPr>
          <p:nvPr>
            <p:ph type="title"/>
          </p:nvPr>
        </p:nvSpPr>
        <p:spPr/>
        <p:txBody>
          <a:bodyPr/>
          <a:lstStyle/>
          <a:p>
            <a:r>
              <a:rPr lang="es-ES" dirty="0" err="1"/>
              <a:t>FoM</a:t>
            </a:r>
            <a:r>
              <a:rPr lang="es-ES" dirty="0"/>
              <a:t> DC: Offset y ganancia</a:t>
            </a:r>
          </a:p>
        </p:txBody>
      </p:sp>
      <p:sp>
        <p:nvSpPr>
          <p:cNvPr id="3" name="Marcador de contenido 2">
            <a:extLst>
              <a:ext uri="{FF2B5EF4-FFF2-40B4-BE49-F238E27FC236}">
                <a16:creationId xmlns:a16="http://schemas.microsoft.com/office/drawing/2014/main" id="{38E7DC51-44A5-6982-3A4E-F96F7F174968}"/>
              </a:ext>
            </a:extLst>
          </p:cNvPr>
          <p:cNvSpPr>
            <a:spLocks noGrp="1"/>
          </p:cNvSpPr>
          <p:nvPr>
            <p:ph idx="1"/>
          </p:nvPr>
        </p:nvSpPr>
        <p:spPr>
          <a:xfrm>
            <a:off x="677334" y="1930400"/>
            <a:ext cx="4311226" cy="3880773"/>
          </a:xfrm>
        </p:spPr>
        <p:txBody>
          <a:bodyPr/>
          <a:lstStyle/>
          <a:p>
            <a:pPr>
              <a:buFont typeface="+mj-lt"/>
              <a:buAutoNum type="arabicPeriod"/>
            </a:pPr>
            <a:r>
              <a:rPr lang="es-ES" dirty="0"/>
              <a:t>Obtener offset</a:t>
            </a:r>
          </a:p>
          <a:p>
            <a:pPr lvl="1">
              <a:buFont typeface="+mj-lt"/>
              <a:buAutoNum type="arabicPeriod"/>
            </a:pPr>
            <a:r>
              <a:rPr lang="es-ES" dirty="0"/>
              <a:t>Input en 0V o ‘d0</a:t>
            </a:r>
          </a:p>
          <a:p>
            <a:pPr lvl="1">
              <a:buFont typeface="+mj-lt"/>
              <a:buAutoNum type="arabicPeriod"/>
            </a:pPr>
            <a:r>
              <a:rPr lang="es-ES" dirty="0"/>
              <a:t>Aumentar en 1LSB* hasta medir una variación en la salida.</a:t>
            </a:r>
          </a:p>
          <a:p>
            <a:pPr>
              <a:buFont typeface="+mj-lt"/>
              <a:buAutoNum type="arabicPeriod"/>
            </a:pPr>
            <a:r>
              <a:rPr lang="es-ES" dirty="0"/>
              <a:t>Obtener ganancia</a:t>
            </a:r>
          </a:p>
          <a:p>
            <a:pPr lvl="1">
              <a:buFont typeface="+mj-lt"/>
              <a:buAutoNum type="arabicPeriod"/>
            </a:pPr>
            <a:r>
              <a:rPr lang="es-ES" dirty="0"/>
              <a:t>Generar una fuente rampa de baja frecuencia</a:t>
            </a:r>
          </a:p>
          <a:p>
            <a:pPr lvl="1">
              <a:buFont typeface="+mj-lt"/>
              <a:buAutoNum type="arabicPeriod"/>
            </a:pPr>
            <a:r>
              <a:rPr lang="es-ES" dirty="0"/>
              <a:t>Obtener la pendiente de varios puntos y generar estadística.</a:t>
            </a:r>
          </a:p>
          <a:p>
            <a:pPr>
              <a:buFont typeface="+mj-lt"/>
              <a:buAutoNum type="arabicPeriod"/>
            </a:pPr>
            <a:r>
              <a:rPr lang="es-ES" dirty="0"/>
              <a:t>Calibrar el periférico</a:t>
            </a:r>
          </a:p>
          <a:p>
            <a:pPr lvl="1">
              <a:buFont typeface="+mj-lt"/>
              <a:buAutoNum type="arabicPeriod"/>
            </a:pPr>
            <a:endParaRPr lang="es-ES" dirty="0"/>
          </a:p>
        </p:txBody>
      </p:sp>
      <p:pic>
        <p:nvPicPr>
          <p:cNvPr id="7" name="Imagen 6">
            <a:extLst>
              <a:ext uri="{FF2B5EF4-FFF2-40B4-BE49-F238E27FC236}">
                <a16:creationId xmlns:a16="http://schemas.microsoft.com/office/drawing/2014/main" id="{04BA10D7-F02C-2F97-630A-35CF1F53F0AC}"/>
              </a:ext>
            </a:extLst>
          </p:cNvPr>
          <p:cNvPicPr>
            <a:picLocks noChangeAspect="1"/>
          </p:cNvPicPr>
          <p:nvPr/>
        </p:nvPicPr>
        <p:blipFill>
          <a:blip r:embed="rId2"/>
          <a:stretch>
            <a:fillRect/>
          </a:stretch>
        </p:blipFill>
        <p:spPr>
          <a:xfrm>
            <a:off x="5559754" y="2148257"/>
            <a:ext cx="5370426" cy="3445058"/>
          </a:xfrm>
          <a:prstGeom prst="rect">
            <a:avLst/>
          </a:prstGeom>
        </p:spPr>
      </p:pic>
      <p:sp>
        <p:nvSpPr>
          <p:cNvPr id="8" name="CuadroTexto 7">
            <a:extLst>
              <a:ext uri="{FF2B5EF4-FFF2-40B4-BE49-F238E27FC236}">
                <a16:creationId xmlns:a16="http://schemas.microsoft.com/office/drawing/2014/main" id="{49A05ABE-EB30-3612-02CD-1F1835A900F9}"/>
              </a:ext>
            </a:extLst>
          </p:cNvPr>
          <p:cNvSpPr txBox="1"/>
          <p:nvPr/>
        </p:nvSpPr>
        <p:spPr>
          <a:xfrm>
            <a:off x="677334" y="6375424"/>
            <a:ext cx="3924300" cy="261610"/>
          </a:xfrm>
          <a:prstGeom prst="rect">
            <a:avLst/>
          </a:prstGeom>
          <a:noFill/>
        </p:spPr>
        <p:txBody>
          <a:bodyPr wrap="square" rtlCol="0">
            <a:spAutoFit/>
          </a:bodyPr>
          <a:lstStyle/>
          <a:p>
            <a:r>
              <a:rPr lang="es-ES" sz="1100" dirty="0"/>
              <a:t>* 1 LSB = 3.3V/2^12 = 805,66µV</a:t>
            </a:r>
          </a:p>
        </p:txBody>
      </p:sp>
    </p:spTree>
    <p:extLst>
      <p:ext uri="{BB962C8B-B14F-4D97-AF65-F5344CB8AC3E}">
        <p14:creationId xmlns:p14="http://schemas.microsoft.com/office/powerpoint/2010/main" val="3680641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562E4-6D7C-2190-FF17-9C1D2125F6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6AA1CC-2EAA-8433-2F8A-8C4ECAE4BECF}"/>
              </a:ext>
            </a:extLst>
          </p:cNvPr>
          <p:cNvSpPr>
            <a:spLocks noGrp="1"/>
          </p:cNvSpPr>
          <p:nvPr>
            <p:ph type="title"/>
          </p:nvPr>
        </p:nvSpPr>
        <p:spPr/>
        <p:txBody>
          <a:bodyPr/>
          <a:lstStyle/>
          <a:p>
            <a:r>
              <a:rPr lang="es-ES" dirty="0" err="1"/>
              <a:t>FoM</a:t>
            </a:r>
            <a:r>
              <a:rPr lang="es-ES" dirty="0"/>
              <a:t> DC:INL y DNL</a:t>
            </a:r>
          </a:p>
        </p:txBody>
      </p:sp>
      <p:sp>
        <p:nvSpPr>
          <p:cNvPr id="3" name="Marcador de contenido 2">
            <a:extLst>
              <a:ext uri="{FF2B5EF4-FFF2-40B4-BE49-F238E27FC236}">
                <a16:creationId xmlns:a16="http://schemas.microsoft.com/office/drawing/2014/main" id="{5F58693D-E4A0-D717-FEA2-8D35F59D45EC}"/>
              </a:ext>
            </a:extLst>
          </p:cNvPr>
          <p:cNvSpPr>
            <a:spLocks noGrp="1"/>
          </p:cNvSpPr>
          <p:nvPr>
            <p:ph idx="1"/>
          </p:nvPr>
        </p:nvSpPr>
        <p:spPr>
          <a:xfrm>
            <a:off x="677334" y="1930400"/>
            <a:ext cx="4311226" cy="3880773"/>
          </a:xfrm>
        </p:spPr>
        <p:txBody>
          <a:bodyPr>
            <a:normAutofit/>
          </a:bodyPr>
          <a:lstStyle/>
          <a:p>
            <a:pPr marL="0" indent="0">
              <a:buNone/>
            </a:pPr>
            <a:r>
              <a:rPr lang="es-ES" dirty="0"/>
              <a:t>Luego de calibrar los periféricos para ajustar el offset, se deberán repetir los pasos para obtener el error de ganancia, esta vez utilizando los datos medidos para reemplazarlos en las ecuaciones presentadas</a:t>
            </a:r>
          </a:p>
          <a:p>
            <a:pPr marL="0" indent="0">
              <a:buNone/>
            </a:pPr>
            <a:r>
              <a:rPr lang="es-ES" dirty="0"/>
              <a:t>Notar que si bien estas son ecuaciones para </a:t>
            </a:r>
            <a:r>
              <a:rPr lang="es-ES" dirty="0" err="1"/>
              <a:t>ADCs</a:t>
            </a:r>
            <a:r>
              <a:rPr lang="es-ES" dirty="0"/>
              <a:t>, si son compatibles con </a:t>
            </a:r>
            <a:r>
              <a:rPr lang="es-ES" dirty="0" err="1"/>
              <a:t>DACs</a:t>
            </a:r>
            <a:r>
              <a:rPr lang="es-ES" dirty="0"/>
              <a:t> con leves modificaciones</a:t>
            </a:r>
          </a:p>
        </p:txBody>
      </p:sp>
      <p:pic>
        <p:nvPicPr>
          <p:cNvPr id="5" name="Imagen 4">
            <a:extLst>
              <a:ext uri="{FF2B5EF4-FFF2-40B4-BE49-F238E27FC236}">
                <a16:creationId xmlns:a16="http://schemas.microsoft.com/office/drawing/2014/main" id="{62B52CFE-4B1B-B28B-E8C7-8DFFA79CA226}"/>
              </a:ext>
            </a:extLst>
          </p:cNvPr>
          <p:cNvPicPr>
            <a:picLocks noChangeAspect="1"/>
          </p:cNvPicPr>
          <p:nvPr/>
        </p:nvPicPr>
        <p:blipFill>
          <a:blip r:embed="rId2"/>
          <a:stretch>
            <a:fillRect/>
          </a:stretch>
        </p:blipFill>
        <p:spPr>
          <a:xfrm>
            <a:off x="5804063" y="1930400"/>
            <a:ext cx="2654436" cy="1606633"/>
          </a:xfrm>
          <a:prstGeom prst="rect">
            <a:avLst/>
          </a:prstGeom>
        </p:spPr>
      </p:pic>
      <p:pic>
        <p:nvPicPr>
          <p:cNvPr id="9" name="Imagen 8">
            <a:extLst>
              <a:ext uri="{FF2B5EF4-FFF2-40B4-BE49-F238E27FC236}">
                <a16:creationId xmlns:a16="http://schemas.microsoft.com/office/drawing/2014/main" id="{0B422D75-8215-7F46-296B-B4E1B67A60FA}"/>
              </a:ext>
            </a:extLst>
          </p:cNvPr>
          <p:cNvPicPr>
            <a:picLocks noChangeAspect="1"/>
          </p:cNvPicPr>
          <p:nvPr/>
        </p:nvPicPr>
        <p:blipFill>
          <a:blip r:embed="rId3"/>
          <a:stretch>
            <a:fillRect/>
          </a:stretch>
        </p:blipFill>
        <p:spPr>
          <a:xfrm>
            <a:off x="5930310" y="3870786"/>
            <a:ext cx="5640252" cy="2161927"/>
          </a:xfrm>
          <a:prstGeom prst="rect">
            <a:avLst/>
          </a:prstGeom>
        </p:spPr>
      </p:pic>
    </p:spTree>
    <p:extLst>
      <p:ext uri="{BB962C8B-B14F-4D97-AF65-F5344CB8AC3E}">
        <p14:creationId xmlns:p14="http://schemas.microsoft.com/office/powerpoint/2010/main" val="948115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B6CEB3-4A10-9E59-1493-028D6044A2BA}"/>
              </a:ext>
            </a:extLst>
          </p:cNvPr>
          <p:cNvSpPr>
            <a:spLocks noGrp="1"/>
          </p:cNvSpPr>
          <p:nvPr>
            <p:ph type="title"/>
          </p:nvPr>
        </p:nvSpPr>
        <p:spPr/>
        <p:txBody>
          <a:bodyPr/>
          <a:lstStyle/>
          <a:p>
            <a:r>
              <a:rPr lang="es-ES" dirty="0" err="1"/>
              <a:t>FoM</a:t>
            </a:r>
            <a:r>
              <a:rPr lang="es-ES" dirty="0"/>
              <a:t> AC: THD y SNDR</a:t>
            </a:r>
          </a:p>
        </p:txBody>
      </p:sp>
      <p:sp>
        <p:nvSpPr>
          <p:cNvPr id="3" name="Marcador de contenido 2">
            <a:extLst>
              <a:ext uri="{FF2B5EF4-FFF2-40B4-BE49-F238E27FC236}">
                <a16:creationId xmlns:a16="http://schemas.microsoft.com/office/drawing/2014/main" id="{86B8FE9F-5344-DB28-B40E-DF3727D55F0A}"/>
              </a:ext>
            </a:extLst>
          </p:cNvPr>
          <p:cNvSpPr>
            <a:spLocks noGrp="1"/>
          </p:cNvSpPr>
          <p:nvPr>
            <p:ph idx="1"/>
          </p:nvPr>
        </p:nvSpPr>
        <p:spPr/>
        <p:txBody>
          <a:bodyPr/>
          <a:lstStyle/>
          <a:p>
            <a:pPr marL="0" indent="0">
              <a:buNone/>
            </a:pPr>
            <a:r>
              <a:rPr lang="es-ES" dirty="0"/>
              <a:t>Cómo se comentó en la presentación anterior, se generarán pruebas para 4-5 frecuencias distintas con filtros pasivos para eliminar armónicos de los generadores de señales y ruido externo.</a:t>
            </a:r>
          </a:p>
          <a:p>
            <a:pPr marL="0" indent="0">
              <a:buNone/>
            </a:pPr>
            <a:r>
              <a:rPr lang="es-ES" dirty="0"/>
              <a:t>Para poder escoger la frecuencia de muestreo se debe seguir la siguiente regla</a:t>
            </a:r>
          </a:p>
          <a:p>
            <a:pPr marL="0" indent="0">
              <a:buNone/>
            </a:pPr>
            <a:endParaRPr lang="es-ES" dirty="0"/>
          </a:p>
        </p:txBody>
      </p:sp>
      <p:pic>
        <p:nvPicPr>
          <p:cNvPr id="5" name="Imagen 4">
            <a:extLst>
              <a:ext uri="{FF2B5EF4-FFF2-40B4-BE49-F238E27FC236}">
                <a16:creationId xmlns:a16="http://schemas.microsoft.com/office/drawing/2014/main" id="{A312BDBA-7211-2C28-4545-606E9486F565}"/>
              </a:ext>
            </a:extLst>
          </p:cNvPr>
          <p:cNvPicPr>
            <a:picLocks noChangeAspect="1"/>
          </p:cNvPicPr>
          <p:nvPr/>
        </p:nvPicPr>
        <p:blipFill>
          <a:blip r:embed="rId2"/>
          <a:stretch>
            <a:fillRect/>
          </a:stretch>
        </p:blipFill>
        <p:spPr>
          <a:xfrm>
            <a:off x="1361734" y="3901440"/>
            <a:ext cx="4734266" cy="2139922"/>
          </a:xfrm>
          <a:prstGeom prst="rect">
            <a:avLst/>
          </a:prstGeom>
        </p:spPr>
      </p:pic>
    </p:spTree>
    <p:extLst>
      <p:ext uri="{BB962C8B-B14F-4D97-AF65-F5344CB8AC3E}">
        <p14:creationId xmlns:p14="http://schemas.microsoft.com/office/powerpoint/2010/main" val="360360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E675-E37A-1F2A-49C9-B5C4FE86DC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281E1F-0D75-52A5-88C9-071A69EDF0C5}"/>
              </a:ext>
            </a:extLst>
          </p:cNvPr>
          <p:cNvSpPr>
            <a:spLocks noGrp="1"/>
          </p:cNvSpPr>
          <p:nvPr>
            <p:ph type="title"/>
          </p:nvPr>
        </p:nvSpPr>
        <p:spPr/>
        <p:txBody>
          <a:bodyPr/>
          <a:lstStyle/>
          <a:p>
            <a:r>
              <a:rPr lang="es-ES" dirty="0" err="1"/>
              <a:t>FoM</a:t>
            </a:r>
            <a:r>
              <a:rPr lang="es-ES" dirty="0"/>
              <a:t> ADC AC: SNDR y ENOB</a:t>
            </a:r>
          </a:p>
        </p:txBody>
      </p:sp>
      <p:sp>
        <p:nvSpPr>
          <p:cNvPr id="3" name="Marcador de contenido 2">
            <a:extLst>
              <a:ext uri="{FF2B5EF4-FFF2-40B4-BE49-F238E27FC236}">
                <a16:creationId xmlns:a16="http://schemas.microsoft.com/office/drawing/2014/main" id="{0C942254-A498-8CD0-787B-67B1F4BD509F}"/>
              </a:ext>
            </a:extLst>
          </p:cNvPr>
          <p:cNvSpPr>
            <a:spLocks noGrp="1"/>
          </p:cNvSpPr>
          <p:nvPr>
            <p:ph idx="1"/>
          </p:nvPr>
        </p:nvSpPr>
        <p:spPr>
          <a:xfrm>
            <a:off x="677334" y="2160589"/>
            <a:ext cx="3539066" cy="3880773"/>
          </a:xfrm>
        </p:spPr>
        <p:txBody>
          <a:bodyPr/>
          <a:lstStyle/>
          <a:p>
            <a:pPr>
              <a:buFont typeface="+mj-lt"/>
              <a:buAutoNum type="arabicPeriod"/>
            </a:pPr>
            <a:r>
              <a:rPr lang="es-ES" dirty="0"/>
              <a:t>SNDR o SINAD</a:t>
            </a:r>
          </a:p>
          <a:p>
            <a:pPr lvl="1">
              <a:buFont typeface="+mj-lt"/>
              <a:buAutoNum type="arabicPeriod"/>
            </a:pPr>
            <a:r>
              <a:rPr lang="es-ES" dirty="0"/>
              <a:t>Inyectar Sinusoidal de baja frecuencia y medir datos x’</a:t>
            </a:r>
          </a:p>
          <a:p>
            <a:pPr lvl="1">
              <a:buFont typeface="+mj-lt"/>
              <a:buAutoNum type="arabicPeriod"/>
            </a:pPr>
            <a:r>
              <a:rPr lang="es-ES" dirty="0"/>
              <a:t>Reemplazar en ecuaciones</a:t>
            </a:r>
          </a:p>
          <a:p>
            <a:pPr>
              <a:buFont typeface="+mj-lt"/>
              <a:buAutoNum type="arabicPeriod"/>
            </a:pPr>
            <a:r>
              <a:rPr lang="es-ES" dirty="0"/>
              <a:t>ENOB</a:t>
            </a:r>
          </a:p>
          <a:p>
            <a:pPr lvl="1">
              <a:buFont typeface="+mj-lt"/>
              <a:buAutoNum type="arabicPeriod"/>
            </a:pPr>
            <a:r>
              <a:rPr lang="es-ES" dirty="0"/>
              <a:t>Obtener SINAD</a:t>
            </a:r>
          </a:p>
          <a:p>
            <a:pPr lvl="1">
              <a:buFont typeface="+mj-lt"/>
              <a:buAutoNum type="arabicPeriod"/>
            </a:pPr>
            <a:r>
              <a:rPr lang="es-ES" dirty="0"/>
              <a:t>Obtener métricas DC</a:t>
            </a:r>
          </a:p>
          <a:p>
            <a:pPr lvl="1">
              <a:buFont typeface="+mj-lt"/>
              <a:buAutoNum type="arabicPeriod"/>
            </a:pPr>
            <a:r>
              <a:rPr lang="es-ES" dirty="0"/>
              <a:t>Reemplazar en ecuación</a:t>
            </a:r>
          </a:p>
          <a:p>
            <a:pPr lvl="1">
              <a:buFont typeface="+mj-lt"/>
              <a:buAutoNum type="arabicPeriod"/>
            </a:pPr>
            <a:endParaRPr lang="es-ES" dirty="0"/>
          </a:p>
        </p:txBody>
      </p:sp>
      <p:pic>
        <p:nvPicPr>
          <p:cNvPr id="7" name="Imagen 6">
            <a:extLst>
              <a:ext uri="{FF2B5EF4-FFF2-40B4-BE49-F238E27FC236}">
                <a16:creationId xmlns:a16="http://schemas.microsoft.com/office/drawing/2014/main" id="{338D16BA-DF15-17DA-CA91-0D3521CF3F61}"/>
              </a:ext>
            </a:extLst>
          </p:cNvPr>
          <p:cNvPicPr>
            <a:picLocks noChangeAspect="1"/>
          </p:cNvPicPr>
          <p:nvPr/>
        </p:nvPicPr>
        <p:blipFill>
          <a:blip r:embed="rId2"/>
          <a:stretch>
            <a:fillRect/>
          </a:stretch>
        </p:blipFill>
        <p:spPr>
          <a:xfrm>
            <a:off x="4583304" y="2003937"/>
            <a:ext cx="2872989" cy="1425063"/>
          </a:xfrm>
          <a:prstGeom prst="rect">
            <a:avLst/>
          </a:prstGeom>
        </p:spPr>
      </p:pic>
      <p:pic>
        <p:nvPicPr>
          <p:cNvPr id="9" name="Imagen 8">
            <a:extLst>
              <a:ext uri="{FF2B5EF4-FFF2-40B4-BE49-F238E27FC236}">
                <a16:creationId xmlns:a16="http://schemas.microsoft.com/office/drawing/2014/main" id="{F4C500D3-347C-E241-1FC9-9865E2A12AA3}"/>
              </a:ext>
            </a:extLst>
          </p:cNvPr>
          <p:cNvPicPr>
            <a:picLocks noChangeAspect="1"/>
          </p:cNvPicPr>
          <p:nvPr/>
        </p:nvPicPr>
        <p:blipFill>
          <a:blip r:embed="rId3"/>
          <a:stretch>
            <a:fillRect/>
          </a:stretch>
        </p:blipFill>
        <p:spPr>
          <a:xfrm>
            <a:off x="7382685" y="2322212"/>
            <a:ext cx="2421715" cy="971422"/>
          </a:xfrm>
          <a:prstGeom prst="rect">
            <a:avLst/>
          </a:prstGeom>
        </p:spPr>
      </p:pic>
      <p:pic>
        <p:nvPicPr>
          <p:cNvPr id="11" name="Imagen 10">
            <a:extLst>
              <a:ext uri="{FF2B5EF4-FFF2-40B4-BE49-F238E27FC236}">
                <a16:creationId xmlns:a16="http://schemas.microsoft.com/office/drawing/2014/main" id="{40DF0C0F-182E-2341-C0C0-FCCB3BA78981}"/>
              </a:ext>
            </a:extLst>
          </p:cNvPr>
          <p:cNvPicPr>
            <a:picLocks noChangeAspect="1"/>
          </p:cNvPicPr>
          <p:nvPr/>
        </p:nvPicPr>
        <p:blipFill>
          <a:blip r:embed="rId4"/>
          <a:stretch>
            <a:fillRect/>
          </a:stretch>
        </p:blipFill>
        <p:spPr>
          <a:xfrm>
            <a:off x="4583304" y="3955141"/>
            <a:ext cx="4906136" cy="1656526"/>
          </a:xfrm>
          <a:prstGeom prst="rect">
            <a:avLst/>
          </a:prstGeom>
        </p:spPr>
      </p:pic>
    </p:spTree>
    <p:extLst>
      <p:ext uri="{BB962C8B-B14F-4D97-AF65-F5344CB8AC3E}">
        <p14:creationId xmlns:p14="http://schemas.microsoft.com/office/powerpoint/2010/main" val="1029987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EA914-3A31-2F5E-8147-F482762147BB}"/>
              </a:ext>
            </a:extLst>
          </p:cNvPr>
          <p:cNvSpPr>
            <a:spLocks noGrp="1"/>
          </p:cNvSpPr>
          <p:nvPr>
            <p:ph type="title"/>
          </p:nvPr>
        </p:nvSpPr>
        <p:spPr/>
        <p:txBody>
          <a:bodyPr/>
          <a:lstStyle/>
          <a:p>
            <a:r>
              <a:rPr lang="es-ES" dirty="0" err="1"/>
              <a:t>FoM</a:t>
            </a:r>
            <a:r>
              <a:rPr lang="es-ES" dirty="0"/>
              <a:t> ADC AC: THD</a:t>
            </a:r>
          </a:p>
        </p:txBody>
      </p:sp>
      <p:pic>
        <p:nvPicPr>
          <p:cNvPr id="1026" name="Picture 2" descr="GIF de Under Construction | Tenor">
            <a:extLst>
              <a:ext uri="{FF2B5EF4-FFF2-40B4-BE49-F238E27FC236}">
                <a16:creationId xmlns:a16="http://schemas.microsoft.com/office/drawing/2014/main" id="{172186A2-B532-EA9D-2725-AB733E6A4F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97454" y="1740334"/>
            <a:ext cx="3397091" cy="4045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168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801F-7AA6-5BED-8BF2-D889DBD7A3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A410F0-8651-3FB1-E29E-24EC64EBD24F}"/>
              </a:ext>
            </a:extLst>
          </p:cNvPr>
          <p:cNvSpPr>
            <a:spLocks noGrp="1"/>
          </p:cNvSpPr>
          <p:nvPr>
            <p:ph type="title"/>
          </p:nvPr>
        </p:nvSpPr>
        <p:spPr/>
        <p:txBody>
          <a:bodyPr/>
          <a:lstStyle/>
          <a:p>
            <a:r>
              <a:rPr lang="es-ES" dirty="0" err="1"/>
              <a:t>FoM</a:t>
            </a:r>
            <a:r>
              <a:rPr lang="es-ES" dirty="0"/>
              <a:t> ADC AC: THD</a:t>
            </a:r>
          </a:p>
        </p:txBody>
      </p:sp>
      <p:sp>
        <p:nvSpPr>
          <p:cNvPr id="3" name="Marcador de contenido 2">
            <a:extLst>
              <a:ext uri="{FF2B5EF4-FFF2-40B4-BE49-F238E27FC236}">
                <a16:creationId xmlns:a16="http://schemas.microsoft.com/office/drawing/2014/main" id="{D3B1A2AF-A967-ABE0-36D4-0F1875DF8099}"/>
              </a:ext>
            </a:extLst>
          </p:cNvPr>
          <p:cNvSpPr>
            <a:spLocks noGrp="1"/>
          </p:cNvSpPr>
          <p:nvPr>
            <p:ph idx="1"/>
          </p:nvPr>
        </p:nvSpPr>
        <p:spPr/>
        <p:txBody>
          <a:bodyPr/>
          <a:lstStyle/>
          <a:p>
            <a:pPr marL="0" indent="0">
              <a:buNone/>
            </a:pPr>
            <a:r>
              <a:rPr lang="es-ES" dirty="0"/>
              <a:t>Revisar ancho de banda analizador de espectro</a:t>
            </a:r>
          </a:p>
          <a:p>
            <a:pPr marL="0" indent="0">
              <a:buNone/>
            </a:pPr>
            <a:r>
              <a:rPr lang="es-ES" dirty="0"/>
              <a:t>Revisar </a:t>
            </a:r>
            <a:r>
              <a:rPr lang="es-ES" dirty="0" err="1"/>
              <a:t>Vref</a:t>
            </a:r>
            <a:r>
              <a:rPr lang="es-ES" dirty="0"/>
              <a:t> </a:t>
            </a:r>
          </a:p>
        </p:txBody>
      </p:sp>
      <p:pic>
        <p:nvPicPr>
          <p:cNvPr id="5" name="Imagen 4">
            <a:extLst>
              <a:ext uri="{FF2B5EF4-FFF2-40B4-BE49-F238E27FC236}">
                <a16:creationId xmlns:a16="http://schemas.microsoft.com/office/drawing/2014/main" id="{4334D71B-DE7B-3000-3E26-0296A0FD37A8}"/>
              </a:ext>
            </a:extLst>
          </p:cNvPr>
          <p:cNvPicPr>
            <a:picLocks noChangeAspect="1"/>
          </p:cNvPicPr>
          <p:nvPr/>
        </p:nvPicPr>
        <p:blipFill>
          <a:blip r:embed="rId2"/>
          <a:stretch>
            <a:fillRect/>
          </a:stretch>
        </p:blipFill>
        <p:spPr>
          <a:xfrm>
            <a:off x="1978397" y="4009315"/>
            <a:ext cx="5994542" cy="2032047"/>
          </a:xfrm>
          <a:prstGeom prst="rect">
            <a:avLst/>
          </a:prstGeom>
        </p:spPr>
      </p:pic>
    </p:spTree>
    <p:extLst>
      <p:ext uri="{BB962C8B-B14F-4D97-AF65-F5344CB8AC3E}">
        <p14:creationId xmlns:p14="http://schemas.microsoft.com/office/powerpoint/2010/main" val="384399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0BD8A-5A83-EE7C-36FB-92070B076312}"/>
              </a:ext>
            </a:extLst>
          </p:cNvPr>
          <p:cNvSpPr>
            <a:spLocks noGrp="1"/>
          </p:cNvSpPr>
          <p:nvPr>
            <p:ph type="title"/>
          </p:nvPr>
        </p:nvSpPr>
        <p:spPr/>
        <p:txBody>
          <a:bodyPr/>
          <a:lstStyle/>
          <a:p>
            <a:r>
              <a:rPr lang="es-ES" dirty="0" err="1"/>
              <a:t>FoM</a:t>
            </a:r>
            <a:r>
              <a:rPr lang="es-ES" dirty="0"/>
              <a:t> DAC AC: SNDR y THD </a:t>
            </a:r>
          </a:p>
        </p:txBody>
      </p:sp>
      <p:sp>
        <p:nvSpPr>
          <p:cNvPr id="3" name="Marcador de contenido 2">
            <a:extLst>
              <a:ext uri="{FF2B5EF4-FFF2-40B4-BE49-F238E27FC236}">
                <a16:creationId xmlns:a16="http://schemas.microsoft.com/office/drawing/2014/main" id="{877A61F9-5A74-BDC6-3732-496A3FC1DF36}"/>
              </a:ext>
            </a:extLst>
          </p:cNvPr>
          <p:cNvSpPr>
            <a:spLocks noGrp="1"/>
          </p:cNvSpPr>
          <p:nvPr>
            <p:ph idx="1"/>
          </p:nvPr>
        </p:nvSpPr>
        <p:spPr/>
        <p:txBody>
          <a:bodyPr/>
          <a:lstStyle/>
          <a:p>
            <a:r>
              <a:rPr lang="es-ES" dirty="0"/>
              <a:t>En general para obtener todas las métricas se puede inyectar una sinusoidal de baja frecuencia y medir los primeros 6 harmónicos con un analizador de espectro.</a:t>
            </a:r>
          </a:p>
          <a:p>
            <a:pPr marL="0" indent="0">
              <a:buNone/>
            </a:pPr>
            <a:endParaRPr lang="es-ES" dirty="0"/>
          </a:p>
        </p:txBody>
      </p:sp>
      <p:pic>
        <p:nvPicPr>
          <p:cNvPr id="5" name="Imagen 4">
            <a:extLst>
              <a:ext uri="{FF2B5EF4-FFF2-40B4-BE49-F238E27FC236}">
                <a16:creationId xmlns:a16="http://schemas.microsoft.com/office/drawing/2014/main" id="{EE11BC63-6249-E539-0271-2BC54E34CB79}"/>
              </a:ext>
            </a:extLst>
          </p:cNvPr>
          <p:cNvPicPr>
            <a:picLocks noChangeAspect="1"/>
          </p:cNvPicPr>
          <p:nvPr/>
        </p:nvPicPr>
        <p:blipFill>
          <a:blip r:embed="rId2"/>
          <a:stretch>
            <a:fillRect/>
          </a:stretch>
        </p:blipFill>
        <p:spPr>
          <a:xfrm>
            <a:off x="1575516" y="3129280"/>
            <a:ext cx="6808526" cy="3119120"/>
          </a:xfrm>
          <a:prstGeom prst="rect">
            <a:avLst/>
          </a:prstGeom>
        </p:spPr>
      </p:pic>
    </p:spTree>
    <p:extLst>
      <p:ext uri="{BB962C8B-B14F-4D97-AF65-F5344CB8AC3E}">
        <p14:creationId xmlns:p14="http://schemas.microsoft.com/office/powerpoint/2010/main" val="3624367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8520F4-A044-9A03-161F-94D861AA543C}"/>
              </a:ext>
            </a:extLst>
          </p:cNvPr>
          <p:cNvSpPr>
            <a:spLocks noGrp="1"/>
          </p:cNvSpPr>
          <p:nvPr>
            <p:ph type="title"/>
          </p:nvPr>
        </p:nvSpPr>
        <p:spPr/>
        <p:txBody>
          <a:bodyPr/>
          <a:lstStyle/>
          <a:p>
            <a:r>
              <a:rPr lang="es-ES" dirty="0"/>
              <a:t>Planificación (actualización)</a:t>
            </a:r>
          </a:p>
        </p:txBody>
      </p:sp>
      <p:sp>
        <p:nvSpPr>
          <p:cNvPr id="3" name="Marcador de contenido 2">
            <a:extLst>
              <a:ext uri="{FF2B5EF4-FFF2-40B4-BE49-F238E27FC236}">
                <a16:creationId xmlns:a16="http://schemas.microsoft.com/office/drawing/2014/main" id="{3D11C411-505F-1F4B-C3D4-CD77A4C18562}"/>
              </a:ext>
            </a:extLst>
          </p:cNvPr>
          <p:cNvSpPr>
            <a:spLocks noGrp="1"/>
          </p:cNvSpPr>
          <p:nvPr>
            <p:ph idx="1"/>
          </p:nvPr>
        </p:nvSpPr>
        <p:spPr/>
        <p:txBody>
          <a:bodyPr/>
          <a:lstStyle/>
          <a:p>
            <a:endParaRPr lang="es-ES" dirty="0"/>
          </a:p>
        </p:txBody>
      </p:sp>
      <p:pic>
        <p:nvPicPr>
          <p:cNvPr id="6" name="Imagen 5">
            <a:extLst>
              <a:ext uri="{FF2B5EF4-FFF2-40B4-BE49-F238E27FC236}">
                <a16:creationId xmlns:a16="http://schemas.microsoft.com/office/drawing/2014/main" id="{11C8E125-850D-BFAA-CC97-1A83C79BF248}"/>
              </a:ext>
            </a:extLst>
          </p:cNvPr>
          <p:cNvPicPr>
            <a:picLocks noChangeAspect="1"/>
          </p:cNvPicPr>
          <p:nvPr/>
        </p:nvPicPr>
        <p:blipFill>
          <a:blip r:embed="rId2"/>
          <a:stretch>
            <a:fillRect/>
          </a:stretch>
        </p:blipFill>
        <p:spPr>
          <a:xfrm>
            <a:off x="1092459" y="1763885"/>
            <a:ext cx="8192787" cy="4277477"/>
          </a:xfrm>
          <a:prstGeom prst="rect">
            <a:avLst/>
          </a:prstGeom>
        </p:spPr>
      </p:pic>
    </p:spTree>
    <p:extLst>
      <p:ext uri="{BB962C8B-B14F-4D97-AF65-F5344CB8AC3E}">
        <p14:creationId xmlns:p14="http://schemas.microsoft.com/office/powerpoint/2010/main" val="4035966032"/>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775</TotalTime>
  <Words>478</Words>
  <Application>Microsoft Office PowerPoint</Application>
  <PresentationFormat>Panorámica</PresentationFormat>
  <Paragraphs>68</Paragraphs>
  <Slides>15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Trebuchet MS</vt:lpstr>
      <vt:lpstr>Wingdings 3</vt:lpstr>
      <vt:lpstr>Faceta</vt:lpstr>
      <vt:lpstr>Caracterización de ADC y DAC de microcontroladores</vt:lpstr>
      <vt:lpstr>Objetivo General</vt:lpstr>
      <vt:lpstr>Objetivos específicos</vt:lpstr>
      <vt:lpstr>Arquitecturas de los periféricos</vt:lpstr>
      <vt:lpstr>Arquitecturas de los periféricos</vt:lpstr>
      <vt:lpstr>Figuras de Mérito</vt:lpstr>
      <vt:lpstr>Insumos</vt:lpstr>
      <vt:lpstr>FoM DC: Offset y ganancia</vt:lpstr>
      <vt:lpstr>FoM DC:INL y DNL</vt:lpstr>
      <vt:lpstr>FoM AC: THD y SNDR</vt:lpstr>
      <vt:lpstr>FoM ADC AC: SNDR y ENOB</vt:lpstr>
      <vt:lpstr>FoM ADC AC: THD</vt:lpstr>
      <vt:lpstr>FoM ADC AC: THD</vt:lpstr>
      <vt:lpstr>FoM DAC AC: SNDR y THD </vt:lpstr>
      <vt:lpstr>Planificación (actualización)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Sanchez Perez (Alumno)</dc:creator>
  <cp:lastModifiedBy>Sebastian Sanchez Perez (Alumno)</cp:lastModifiedBy>
  <cp:revision>13</cp:revision>
  <dcterms:created xsi:type="dcterms:W3CDTF">2026-04-12T20:12:28Z</dcterms:created>
  <dcterms:modified xsi:type="dcterms:W3CDTF">2026-04-21T14:52:36Z</dcterms:modified>
</cp:coreProperties>
</file>