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8" r:id="rId4"/>
    <p:sldId id="266" r:id="rId5"/>
    <p:sldId id="267" r:id="rId6"/>
    <p:sldId id="258" r:id="rId7"/>
    <p:sldId id="261" r:id="rId8"/>
    <p:sldId id="265" r:id="rId9"/>
    <p:sldId id="264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6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677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620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779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562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4175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6837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514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8338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656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6419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2608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0132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3998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8738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863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B8D98-B142-4FF0-82B8-69A272E19745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0688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4F913-F19F-111C-F69E-7A31797FC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760" y="2404534"/>
            <a:ext cx="8654243" cy="1646302"/>
          </a:xfrm>
        </p:spPr>
        <p:txBody>
          <a:bodyPr/>
          <a:lstStyle/>
          <a:p>
            <a:r>
              <a:rPr lang="es-ES" dirty="0"/>
              <a:t>Caracterización de ADC y DAC de microcontroladores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8D4090-8606-687E-F576-7C266EB4D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Por: Sebastián Sánchez</a:t>
            </a:r>
          </a:p>
          <a:p>
            <a:r>
              <a:rPr lang="es-ES" dirty="0"/>
              <a:t>Profesor: Alejandro Weinstein</a:t>
            </a:r>
          </a:p>
        </p:txBody>
      </p:sp>
    </p:spTree>
    <p:extLst>
      <p:ext uri="{BB962C8B-B14F-4D97-AF65-F5344CB8AC3E}">
        <p14:creationId xmlns:p14="http://schemas.microsoft.com/office/powerpoint/2010/main" val="260582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CBD45-D414-D162-B961-410B924D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 General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E922B-3F90-83DE-4C42-543B57B10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Validar métricas de desempeño de periféricos análogos de los microcontroladores STM32 y ESP32</a:t>
            </a:r>
          </a:p>
        </p:txBody>
      </p:sp>
    </p:spTree>
    <p:extLst>
      <p:ext uri="{BB962C8B-B14F-4D97-AF65-F5344CB8AC3E}">
        <p14:creationId xmlns:p14="http://schemas.microsoft.com/office/powerpoint/2010/main" val="351031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379EA-C185-2BEC-536D-F60FF85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específicos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CD2E8-12E3-785F-E414-3D85C3753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Generar tabla comparativa de métricas de desempeño no documentadas de cada periférico.</a:t>
            </a:r>
          </a:p>
          <a:p>
            <a:r>
              <a:rPr lang="es-ES" sz="2400" dirty="0"/>
              <a:t>Identificar casos de uso donde convendría utilizar STM o ESP.</a:t>
            </a:r>
          </a:p>
          <a:p>
            <a:r>
              <a:rPr lang="es-ES" sz="2400" dirty="0"/>
              <a:t>Generar un set de pasos para la validación de periféricos de señal mixta.</a:t>
            </a:r>
          </a:p>
        </p:txBody>
      </p:sp>
    </p:spTree>
    <p:extLst>
      <p:ext uri="{BB962C8B-B14F-4D97-AF65-F5344CB8AC3E}">
        <p14:creationId xmlns:p14="http://schemas.microsoft.com/office/powerpoint/2010/main" val="317829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16C31-0887-1FD7-DAC3-7B093EC3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Arquitecturas de los periféricos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8799B5-1E18-CB9A-F5D3-194CDD902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Tanto STM32 como ESP32 comparten una misma arquitectura para su conversor de datos análogo digital (ADC), específicamente la arquitectura tipo SAR</a:t>
            </a:r>
          </a:p>
        </p:txBody>
      </p:sp>
      <p:pic>
        <p:nvPicPr>
          <p:cNvPr id="1026" name="Picture 2" descr="Successive approximation register ADC (SAR-ADC). | Download Scientific  Diagram">
            <a:extLst>
              <a:ext uri="{FF2B5EF4-FFF2-40B4-BE49-F238E27FC236}">
                <a16:creationId xmlns:a16="http://schemas.microsoft.com/office/drawing/2014/main" id="{551F3B32-D764-E849-A4DF-860850B4A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218" y="3400425"/>
            <a:ext cx="64389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90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5B98B-3713-C9B7-9EBE-B55B666F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2EB95-69A4-D9C8-63FC-94FC813D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s-ES" dirty="0"/>
              <a:t>Arquitecturas de los periféricos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96EAA5-B5A9-6895-8C89-010FAA61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287" y="2160589"/>
            <a:ext cx="2934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A diferencia del ADC, la STM32 y ESP32 utilizan diferentes arquitecturas para el DAC.</a:t>
            </a:r>
          </a:p>
          <a:p>
            <a:pPr marL="0" indent="0">
              <a:buNone/>
            </a:pPr>
            <a:r>
              <a:rPr lang="es-ES" dirty="0"/>
              <a:t>En el caso de la ESP se utiliza un resistor </a:t>
            </a:r>
            <a:r>
              <a:rPr lang="es-ES" dirty="0" err="1"/>
              <a:t>string</a:t>
            </a:r>
            <a:r>
              <a:rPr lang="es-ES" dirty="0"/>
              <a:t> (figura izquierda) utilizando 2^N resistores.</a:t>
            </a:r>
          </a:p>
          <a:p>
            <a:pPr marL="0" indent="0">
              <a:buNone/>
            </a:pPr>
            <a:r>
              <a:rPr lang="es-ES" dirty="0"/>
              <a:t>En el caso de la STM se utiliza una arquitectura R2R (figura derecha) utilizando 2*N resistores.</a:t>
            </a:r>
          </a:p>
        </p:txBody>
      </p:sp>
      <p:pic>
        <p:nvPicPr>
          <p:cNvPr id="2054" name="Picture 6" descr="Analog to Digital Converters - Circuit Cellar">
            <a:extLst>
              <a:ext uri="{FF2B5EF4-FFF2-40B4-BE49-F238E27FC236}">
                <a16:creationId xmlns:a16="http://schemas.microsoft.com/office/drawing/2014/main" id="{A57615B0-7DFB-A538-D717-80E241BF4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0" b="-2"/>
          <a:stretch>
            <a:fillRect/>
          </a:stretch>
        </p:blipFill>
        <p:spPr bwMode="auto">
          <a:xfrm>
            <a:off x="677334" y="2159331"/>
            <a:ext cx="5423429" cy="388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069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F9D0C-A5C8-E478-CE0E-1FE2C8DF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generales de </a:t>
            </a:r>
            <a:r>
              <a:rPr lang="es-ES" dirty="0" err="1"/>
              <a:t>ADCs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3A6166-E0B2-AB5F-ED87-37BFC7B7A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99" y="1584855"/>
            <a:ext cx="8596668" cy="3880773"/>
          </a:xfrm>
        </p:spPr>
        <p:txBody>
          <a:bodyPr/>
          <a:lstStyle/>
          <a:p>
            <a:pPr marL="457200" lvl="1" indent="0">
              <a:buNone/>
            </a:pPr>
            <a:r>
              <a:rPr lang="es-ES" dirty="0"/>
              <a:t>Estas pueden ser evaluadas puramente mediante programación del microcontrolador y el analizador lógico, de manera similar a procedimientos de la Tarea N°1.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C5B3D91-E4AF-D749-30ED-F35F40C5D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322949"/>
              </p:ext>
            </p:extLst>
          </p:nvPr>
        </p:nvGraphicFramePr>
        <p:xfrm>
          <a:off x="911668" y="3173875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047288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89049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29915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STM32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ESP32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7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Msps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5.33 @80MHz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503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Tiempo de conversión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Sampling+12,5 ciclos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4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Msps</a:t>
                      </a:r>
                      <a:r>
                        <a:rPr lang="es-ES" dirty="0"/>
                        <a:t> v/s resolución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[5.33 , 8.88]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29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Consumo de 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[730 , 830] µA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05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419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6F6D6-D078-73EC-2B92-4C4BE7B7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22A88-3300-A65E-073D-37ECDC27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DC de </a:t>
            </a:r>
            <a:r>
              <a:rPr lang="es-ES" dirty="0" err="1"/>
              <a:t>ADCs</a:t>
            </a:r>
            <a:r>
              <a:rPr lang="es-ES" dirty="0"/>
              <a:t> a validar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6CA355-CF36-DD6C-CD5C-206BA6F7C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1056"/>
            <a:ext cx="8596668" cy="3880773"/>
          </a:xfrm>
        </p:spPr>
        <p:txBody>
          <a:bodyPr/>
          <a:lstStyle/>
          <a:p>
            <a:r>
              <a:rPr lang="es-ES" dirty="0"/>
              <a:t>Error de offset</a:t>
            </a:r>
          </a:p>
          <a:p>
            <a:pPr lvl="1"/>
            <a:r>
              <a:rPr lang="es-ES" dirty="0"/>
              <a:t>Medir salida en 0V e ir aumentando 1LSB de manera gradual</a:t>
            </a:r>
          </a:p>
          <a:p>
            <a:r>
              <a:rPr lang="es-ES" dirty="0"/>
              <a:t>Error de ganancia</a:t>
            </a:r>
          </a:p>
          <a:p>
            <a:pPr lvl="1"/>
            <a:r>
              <a:rPr lang="es-ES" dirty="0"/>
              <a:t>Obtener pendiente entre mediciones</a:t>
            </a:r>
          </a:p>
          <a:p>
            <a:r>
              <a:rPr lang="es-ES" dirty="0"/>
              <a:t>INL y DNL</a:t>
            </a:r>
          </a:p>
          <a:p>
            <a:pPr lvl="1"/>
            <a:r>
              <a:rPr lang="es-ES" dirty="0"/>
              <a:t>Medir rampa de voltaje análogo N veces, conectar al DAC y procesar data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F9183DE-A182-C4D8-5D08-EF3899473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625813"/>
              </p:ext>
            </p:extLst>
          </p:nvPr>
        </p:nvGraphicFramePr>
        <p:xfrm>
          <a:off x="911668" y="4187162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047288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89049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29915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STM32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ESP32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7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Error de 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[1 , 2.5]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503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Error de ganancia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[2.5 , 4.5]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4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[1.5 , 2.5]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[-7 , 7]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29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[1 , 1.5]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[-12 , 12] LSB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05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45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3D34-F8D3-2268-85D5-942FDFE97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E49E1-3B0D-796B-A55D-046CE02F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AC de </a:t>
            </a:r>
            <a:r>
              <a:rPr lang="es-ES" dirty="0" err="1"/>
              <a:t>ADCs</a:t>
            </a:r>
            <a:r>
              <a:rPr lang="es-ES" dirty="0"/>
              <a:t> a validar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B37030-A4BE-6D60-6E13-F11814E6D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Siguiendo el estándar IEEE1241 se debe destaca que para obtener estas métricas se armarán 4-5 filtro pasivos a modo de eliminar cualquier ruido/distorsión y por ende se utilizarán 4-5 frecuencias de muestreo para la medición de estos datos.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10346C3-639B-5A32-4F02-DFDBB6321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84061"/>
              </p:ext>
            </p:extLst>
          </p:nvPr>
        </p:nvGraphicFramePr>
        <p:xfrm>
          <a:off x="911668" y="4187162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047288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89049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29915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STM32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ESP32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7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[-73 , -69]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503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SNDR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[63 , 67]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4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ENOB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[10.2 , 10.7] </a:t>
                      </a:r>
                      <a:r>
                        <a:rPr lang="es-ES" dirty="0" err="1"/>
                        <a:t>bitss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29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88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FC43-087A-9E24-0E1F-FF5D0535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DD4AB-6787-FA8B-1D79-37134A39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de </a:t>
            </a:r>
            <a:r>
              <a:rPr lang="es-ES" dirty="0" err="1"/>
              <a:t>DACs</a:t>
            </a:r>
            <a:r>
              <a:rPr lang="es-ES" dirty="0"/>
              <a:t> a validar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6B6EFF-035C-22BF-0B8B-5699BC906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10256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Es importante recordar que la STM utiliza una arquitectura R2R, mientras que la ESP32 utiliza un Resistor </a:t>
            </a:r>
            <a:r>
              <a:rPr lang="es-ES" dirty="0" err="1"/>
              <a:t>String</a:t>
            </a:r>
            <a:r>
              <a:rPr lang="es-ES" dirty="0"/>
              <a:t> (RS). </a:t>
            </a:r>
          </a:p>
          <a:p>
            <a:pPr marL="0" indent="0">
              <a:buNone/>
            </a:pPr>
            <a:r>
              <a:rPr lang="es-ES" dirty="0"/>
              <a:t>Es importante notar que RS debiese ser más preciso a costo de mayor utilización de resistencias (RS utiliza 2^N, mientras que R2R utiliza 2*N)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31F13E2-63F6-C6C2-FC54-3057547BE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050780"/>
              </p:ext>
            </p:extLst>
          </p:nvPr>
        </p:nvGraphicFramePr>
        <p:xfrm>
          <a:off x="911667" y="3550642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047288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89049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29915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STM32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ESP32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7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Settling</a:t>
                      </a:r>
                      <a:r>
                        <a:rPr lang="es-ES" dirty="0"/>
                        <a:t>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[1.7 , 3] µs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503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[± 8, ±25] LSB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4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Ganancia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±5 %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29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±4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037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±2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0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SNDR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[70.4 , 71]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55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032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520F4-A044-9A03-161F-94D861AA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Planificación (esperada)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11C411-505F-1F4B-C3D4-CD77A4C1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D88F13-1866-BF8A-BB39-7F59E1B98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63453"/>
            <a:ext cx="8254680" cy="428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660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458</TotalTime>
  <Words>526</Words>
  <Application>Microsoft Office PowerPoint</Application>
  <PresentationFormat>Panorámica</PresentationFormat>
  <Paragraphs>93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Caracterización de ADC y DAC de microcontroladores</vt:lpstr>
      <vt:lpstr>Objetivo General</vt:lpstr>
      <vt:lpstr>Objetivos específicos</vt:lpstr>
      <vt:lpstr>Arquitecturas de los periféricos</vt:lpstr>
      <vt:lpstr>Arquitecturas de los periféricos</vt:lpstr>
      <vt:lpstr>Características generales de ADCs</vt:lpstr>
      <vt:lpstr>Características DC de ADCs a validar</vt:lpstr>
      <vt:lpstr>Características AC de ADCs a validar</vt:lpstr>
      <vt:lpstr>Características de DACs a validar</vt:lpstr>
      <vt:lpstr>Planificación (esperada)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Sanchez Perez (Alumno)</dc:creator>
  <cp:lastModifiedBy>Sebastian Sanchez Perez (Alumno)</cp:lastModifiedBy>
  <cp:revision>9</cp:revision>
  <dcterms:created xsi:type="dcterms:W3CDTF">2026-04-12T20:12:28Z</dcterms:created>
  <dcterms:modified xsi:type="dcterms:W3CDTF">2026-04-14T14:42:59Z</dcterms:modified>
</cp:coreProperties>
</file>