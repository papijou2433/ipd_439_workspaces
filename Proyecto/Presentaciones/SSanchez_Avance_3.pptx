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notesMasterIdLst>
    <p:notesMasterId r:id="rId12"/>
  </p:notesMasterIdLst>
  <p:sldIdLst>
    <p:sldId id="256" r:id="rId2"/>
    <p:sldId id="257" r:id="rId3"/>
    <p:sldId id="268" r:id="rId4"/>
    <p:sldId id="290" r:id="rId5"/>
    <p:sldId id="281" r:id="rId6"/>
    <p:sldId id="288" r:id="rId7"/>
    <p:sldId id="292" r:id="rId8"/>
    <p:sldId id="293" r:id="rId9"/>
    <p:sldId id="287" r:id="rId10"/>
    <p:sldId id="28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A9350F-2939-4458-8D71-3F15E74601A9}" type="datetimeFigureOut">
              <a:rPr lang="es-ES" smtClean="0"/>
              <a:t>05/05/2026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E1F878-C97D-4BE2-B675-011D6B6D452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0786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56174E-6725-4DA7-9A8F-10708BCA6C53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67129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6AE57-678C-4474-BCAF-A1C1D01D9923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3554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444EE-D81E-4C7F-A938-20181987BA6B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017026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FAF70-6DC3-49DB-8469-3FD7C3DF5C2E}" type="datetime1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59989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ABBE8-6FAC-4BD3-965B-CE24F796E336}" type="datetime1">
              <a:rPr lang="es-ES" smtClean="0"/>
              <a:t>05/05/2026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961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C02F9-238F-4FB1-8B2A-D4A4337555AF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8933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8BAA2-4E3A-4749-9C95-C97D8416C792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1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BCFCA8-6CCF-4D46-B1C6-78E050CA5BBC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87002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2B887-773C-4083-9C59-A03E7CE6E670}" type="datetime1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4907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51DC3-5264-44C7-A3E4-CFD509EBEA33}" type="datetime1">
              <a:rPr lang="es-ES" smtClean="0"/>
              <a:t>05/05/2026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6666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777A52-5768-40D1-BC8B-CF7AA6FE6FAE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982617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062928-AC8C-432A-97A6-2FD35C4358B6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809991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D28E7-65C2-4A97-A3E3-4276DB320591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393074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4C196-43F4-4D9F-AE7A-CB11FBCCE685}" type="datetime1">
              <a:rPr lang="es-ES" smtClean="0"/>
              <a:t>05/05/2026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50648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D7ACA-758E-4EA2-90F8-B36D5DB85761}" type="datetime1">
              <a:rPr lang="es-ES" smtClean="0"/>
              <a:t>05/05/2026</a:t>
            </a:fld>
            <a:endParaRPr lang="es-E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377269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36CC12-3AAD-493A-B056-FC6E58CED972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7470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15989-7D34-4CB0-BE8D-094F4093C5BE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34671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34307928-303A-499E-B86C-8D170FB3D7EF}" type="datetime1">
              <a:rPr lang="es-ES" smtClean="0"/>
              <a:t>05/05/2026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25A04B-6C01-430F-BBE6-0BFF217C666F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402110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  <p:sldLayoutId id="2147483737" r:id="rId12"/>
    <p:sldLayoutId id="2147483738" r:id="rId13"/>
    <p:sldLayoutId id="2147483739" r:id="rId14"/>
    <p:sldLayoutId id="2147483740" r:id="rId15"/>
    <p:sldLayoutId id="2147483741" r:id="rId16"/>
    <p:sldLayoutId id="2147483742" r:id="rId17"/>
  </p:sldLayoutIdLst>
  <p:hf hd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4F913-F19F-111C-F69E-7A31797FCF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8878" y="2005709"/>
            <a:ext cx="8654243" cy="1646302"/>
          </a:xfrm>
        </p:spPr>
        <p:txBody>
          <a:bodyPr>
            <a:normAutofit fontScale="90000"/>
          </a:bodyPr>
          <a:lstStyle/>
          <a:p>
            <a:r>
              <a:rPr lang="es-ES" dirty="0"/>
              <a:t>Caracterización de ADC y DAC de microcontroladores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8D4090-8606-687E-F576-7C266EB4D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96304"/>
            <a:ext cx="9144000" cy="1655762"/>
          </a:xfrm>
        </p:spPr>
        <p:txBody>
          <a:bodyPr/>
          <a:lstStyle/>
          <a:p>
            <a:r>
              <a:rPr lang="es-ES" dirty="0"/>
              <a:t>Por: Sebastián Sánchez</a:t>
            </a:r>
          </a:p>
          <a:p>
            <a:r>
              <a:rPr lang="es-ES" dirty="0"/>
              <a:t>Profesor: Alejandro Weinstein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07E3D29-99E6-F3A2-6ECC-BF12468D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1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64D27E-3252-745D-E48E-D8A7D1499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058261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CBD45-D414-D162-B961-410B924DA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Objetivo General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92E922B-3F90-83DE-4C42-543B57B10D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Validar métricas de desempeño de periféricos análogos de los microcontroladores STM32 l476RG y ESP32 S3 mini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71B0C7-5901-5031-36A8-C793F3153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2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968DD1-EE3B-6005-1EF2-6D727F098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031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1379EA-C185-2BEC-536D-F60FF85E2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Objetivos específicos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5CD2E8-12E3-785F-E414-3D85C3753D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2629125"/>
          </a:xfrm>
        </p:spPr>
        <p:txBody>
          <a:bodyPr>
            <a:normAutofit/>
          </a:bodyPr>
          <a:lstStyle/>
          <a:p>
            <a:r>
              <a:rPr lang="es-ES" sz="2400" dirty="0"/>
              <a:t>Caracterizar el ADC de la SMT32 L476RG y ESP32 S3 mini</a:t>
            </a:r>
          </a:p>
          <a:p>
            <a:r>
              <a:rPr lang="es-ES" sz="2400" dirty="0"/>
              <a:t>Caracterizar el DAC de la STM32 L476RG y ESP32 S3 mini</a:t>
            </a:r>
          </a:p>
          <a:p>
            <a:r>
              <a:rPr lang="es-ES" sz="2400" dirty="0"/>
              <a:t>Generar tabla comparativa de periféricos análogos entre estos microcontroladores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DA493EF-472F-56C4-85B9-DF4F5D44B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3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42FA5DB-F33F-A69D-3A6C-4FEF5780A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782955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7791F4-2847-08F5-0A1D-D97DAAA9A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EBEBEB"/>
                </a:solidFill>
              </a:rPr>
              <a:t>Entorno de trabajo ADC</a:t>
            </a:r>
          </a:p>
        </p:txBody>
      </p:sp>
      <p:sp>
        <p:nvSpPr>
          <p:cNvPr id="2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978A56BC-EF1F-8538-4FCA-8132143BE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71" y="1408874"/>
            <a:ext cx="3414010" cy="4040249"/>
          </a:xfrm>
          <a:prstGeom prst="rect">
            <a:avLst/>
          </a:prstGeom>
          <a:effectLst/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7ECE9DD-0011-C742-C739-50D4DA298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725A04B-6C01-430F-BBE6-0BFF217C666F}" type="slidenum">
              <a:rPr lang="es-E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s-ES">
              <a:solidFill>
                <a:srgbClr val="FFFFF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FE70A74E-5A00-6D9D-1773-81A16CA60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Envio de </a:t>
            </a:r>
            <a:r>
              <a:rPr lang="en-US" dirty="0" err="1">
                <a:solidFill>
                  <a:srgbClr val="FFFFFF"/>
                </a:solidFill>
              </a:rPr>
              <a:t>dato</a:t>
            </a:r>
            <a:r>
              <a:rPr lang="en-US" dirty="0">
                <a:solidFill>
                  <a:srgbClr val="FFFFFF"/>
                </a:solidFill>
              </a:rPr>
              <a:t> start </a:t>
            </a:r>
            <a:r>
              <a:rPr lang="en-US" dirty="0" err="1">
                <a:solidFill>
                  <a:srgbClr val="FFFFFF"/>
                </a:solidFill>
              </a:rPr>
              <a:t>por</a:t>
            </a:r>
            <a:r>
              <a:rPr lang="en-US" dirty="0">
                <a:solidFill>
                  <a:srgbClr val="FFFFFF"/>
                </a:solidFill>
              </a:rPr>
              <a:t> UART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Timer </a:t>
            </a:r>
            <a:r>
              <a:rPr lang="en-US" dirty="0" err="1">
                <a:solidFill>
                  <a:srgbClr val="FFFFFF"/>
                </a:solidFill>
              </a:rPr>
              <a:t>inicia</a:t>
            </a:r>
            <a:r>
              <a:rPr lang="en-US" dirty="0">
                <a:solidFill>
                  <a:srgbClr val="FFFFFF"/>
                </a:solidFill>
              </a:rPr>
              <a:t> PC0,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cual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actua</a:t>
            </a:r>
            <a:r>
              <a:rPr lang="en-US" dirty="0">
                <a:solidFill>
                  <a:srgbClr val="FFFFFF"/>
                </a:solidFill>
              </a:rPr>
              <a:t> de trigger para </a:t>
            </a:r>
            <a:r>
              <a:rPr lang="en-US" dirty="0" err="1">
                <a:solidFill>
                  <a:srgbClr val="FFFFFF"/>
                </a:solidFill>
              </a:rPr>
              <a:t>iniciar</a:t>
            </a:r>
            <a:r>
              <a:rPr lang="en-US" dirty="0">
                <a:solidFill>
                  <a:srgbClr val="FFFFFF"/>
                </a:solidFill>
              </a:rPr>
              <a:t> la forma de </a:t>
            </a:r>
            <a:r>
              <a:rPr lang="en-US" dirty="0" err="1">
                <a:solidFill>
                  <a:srgbClr val="FFFFFF"/>
                </a:solidFill>
              </a:rPr>
              <a:t>onda</a:t>
            </a: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Timer </a:t>
            </a:r>
            <a:r>
              <a:rPr lang="en-US" dirty="0" err="1">
                <a:solidFill>
                  <a:srgbClr val="FFFFFF"/>
                </a:solidFill>
              </a:rPr>
              <a:t>inicia</a:t>
            </a:r>
            <a:r>
              <a:rPr lang="en-US" dirty="0">
                <a:solidFill>
                  <a:srgbClr val="FFFFFF"/>
                </a:solidFill>
              </a:rPr>
              <a:t> ADC para </a:t>
            </a:r>
            <a:r>
              <a:rPr lang="en-US" dirty="0" err="1">
                <a:solidFill>
                  <a:srgbClr val="FFFFFF"/>
                </a:solidFill>
              </a:rPr>
              <a:t>empezar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capturar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datos</a:t>
            </a: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err="1">
                <a:solidFill>
                  <a:srgbClr val="FFFFFF"/>
                </a:solidFill>
              </a:rPr>
              <a:t>Términa</a:t>
            </a:r>
            <a:r>
              <a:rPr lang="en-US" dirty="0">
                <a:solidFill>
                  <a:srgbClr val="FFFFFF"/>
                </a:solidFill>
              </a:rPr>
              <a:t> la </a:t>
            </a:r>
            <a:r>
              <a:rPr lang="en-US" dirty="0" err="1">
                <a:solidFill>
                  <a:srgbClr val="FFFFFF"/>
                </a:solidFill>
              </a:rPr>
              <a:t>medición</a:t>
            </a:r>
            <a:r>
              <a:rPr lang="en-US" dirty="0">
                <a:solidFill>
                  <a:srgbClr val="FFFFFF"/>
                </a:solidFill>
              </a:rPr>
              <a:t> y se </a:t>
            </a:r>
            <a:r>
              <a:rPr lang="en-US" dirty="0" err="1">
                <a:solidFill>
                  <a:srgbClr val="FFFFFF"/>
                </a:solidFill>
              </a:rPr>
              <a:t>envían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datos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por</a:t>
            </a:r>
            <a:r>
              <a:rPr lang="en-US" dirty="0">
                <a:solidFill>
                  <a:srgbClr val="FFFFFF"/>
                </a:solidFill>
              </a:rPr>
              <a:t> UART para </a:t>
            </a:r>
            <a:r>
              <a:rPr lang="en-US" dirty="0" err="1">
                <a:solidFill>
                  <a:srgbClr val="FFFFFF"/>
                </a:solidFill>
              </a:rPr>
              <a:t>procesado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A1963FF-19E6-2BB6-671F-595961170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endParaRPr lang="es-ES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32122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8FCEF-8711-DFBA-306F-BB3C84E7A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3322912" cy="16419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600"/>
              <a:t>Métricas obtenidas ADC STM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35216302-18B6-184F-A745-6FC857675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1" r="6335"/>
          <a:stretch>
            <a:fillRect/>
          </a:stretch>
        </p:blipFill>
        <p:spPr>
          <a:xfrm>
            <a:off x="4619544" y="609601"/>
            <a:ext cx="6924756" cy="5638797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A93A089E-0A16-452C-B341-0F769780D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0CD45E-B865-011A-79FE-D62613981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725A04B-6C01-430F-BBE6-0BFF217C666F}" type="slidenum">
              <a:rPr lang="es-ES"/>
              <a:pPr>
                <a:spcAft>
                  <a:spcPts val="600"/>
                </a:spcAft>
              </a:pPr>
              <a:t>5</a:t>
            </a:fld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002DD3-36D8-B9EF-BBA6-EB66D322B7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1" y="2438401"/>
            <a:ext cx="3324141" cy="380999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dirty="0"/>
              <a:t>Obtención mediante histograma y regresión lineal en Python.</a:t>
            </a:r>
          </a:p>
          <a:p>
            <a:pPr marL="0" indent="0">
              <a:buNone/>
            </a:pPr>
            <a:r>
              <a:rPr lang="es-ES" dirty="0"/>
              <a:t>Se utiliza señal de </a:t>
            </a:r>
            <a:r>
              <a:rPr lang="es-ES" dirty="0" err="1"/>
              <a:t>trigger</a:t>
            </a:r>
            <a:r>
              <a:rPr lang="es-ES" dirty="0"/>
              <a:t> para iniciar rampa de frecuencia 0.1Hz</a:t>
            </a:r>
          </a:p>
          <a:p>
            <a:pPr marL="0" indent="0">
              <a:buNone/>
            </a:pPr>
            <a:r>
              <a:rPr lang="es-ES" dirty="0"/>
              <a:t>Frecuencia de muestreo utilizada del ADC = 4kHz</a:t>
            </a:r>
          </a:p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DE88F8-6861-FB79-C79A-BF4E7821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99555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5AB8-75E2-D3D1-B2C2-2307EFB62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BCCCF5-D31D-F16D-2489-F18E658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Métricas obtenidas ADC STM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CF9751-1D18-50D5-1205-FF50F4F5C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12" y="2010585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es-ES" dirty="0"/>
              <a:t>Se especula la posibilidad de que el AD2 no sea una fuente apta para la tarea.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F8E396A-5F18-47B7-9FE3-D337CD5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8245697-1D5C-A433-C899-47E00C244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0C657BB7-243D-5C2B-5EBC-2C82B79BC5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977210"/>
              </p:ext>
            </p:extLst>
          </p:nvPr>
        </p:nvGraphicFramePr>
        <p:xfrm>
          <a:off x="1284472" y="3606799"/>
          <a:ext cx="8127999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9466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96592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968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 (LSB)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Datasheet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8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Ganancia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4 - 4.5</a:t>
                      </a:r>
                      <a:r>
                        <a:rPr lang="es-ES" sz="1800" dirty="0"/>
                        <a:t>*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00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Offset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-25**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 –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09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INL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4 – 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2.5 – 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0624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DNL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505861"/>
                  </a:ext>
                </a:extLst>
              </a:tr>
            </a:tbl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A50F3708-8EAB-DBEE-39B9-BD07FADEEB36}"/>
              </a:ext>
            </a:extLst>
          </p:cNvPr>
          <p:cNvSpPr txBox="1"/>
          <p:nvPr/>
        </p:nvSpPr>
        <p:spPr>
          <a:xfrm>
            <a:off x="905933" y="5850467"/>
            <a:ext cx="72728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200" dirty="0"/>
              <a:t>*Se sospecha que este es el valor máximo que se puede encontrar entre un </a:t>
            </a:r>
            <a:r>
              <a:rPr lang="es-ES" sz="1200" dirty="0" err="1"/>
              <a:t>code</a:t>
            </a:r>
            <a:r>
              <a:rPr lang="es-ES" sz="1200" dirty="0"/>
              <a:t> </a:t>
            </a:r>
            <a:r>
              <a:rPr lang="es-ES" sz="1200" dirty="0" err="1"/>
              <a:t>bin</a:t>
            </a:r>
            <a:r>
              <a:rPr lang="es-ES" sz="1200" dirty="0"/>
              <a:t> y otro</a:t>
            </a:r>
          </a:p>
          <a:p>
            <a:r>
              <a:rPr lang="es-ES" sz="1200" dirty="0"/>
              <a:t>** Se sospecha que el offset del AD2 en el rango utilizado pueda ser la fuente del problema</a:t>
            </a:r>
          </a:p>
        </p:txBody>
      </p:sp>
    </p:spTree>
    <p:extLst>
      <p:ext uri="{BB962C8B-B14F-4D97-AF65-F5344CB8AC3E}">
        <p14:creationId xmlns:p14="http://schemas.microsoft.com/office/powerpoint/2010/main" val="2615745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2DCDC6-9B2E-EEF6-0113-3FBD4C74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37">
            <a:extLst>
              <a:ext uri="{FF2B5EF4-FFF2-40B4-BE49-F238E27FC236}">
                <a16:creationId xmlns:a16="http://schemas.microsoft.com/office/drawing/2014/main" id="{C8A3C342-1D03-412F-8DD3-BF519E8E0A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FA66D91-FA67-C303-A8FB-691B3CEE9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30" y="629266"/>
            <a:ext cx="6188190" cy="1622321"/>
          </a:xfrm>
        </p:spPr>
        <p:txBody>
          <a:bodyPr>
            <a:normAutofit/>
          </a:bodyPr>
          <a:lstStyle/>
          <a:p>
            <a:r>
              <a:rPr lang="es-ES" dirty="0">
                <a:solidFill>
                  <a:srgbClr val="EBEBEB"/>
                </a:solidFill>
              </a:rPr>
              <a:t>Entorno de trabajo DAC</a:t>
            </a:r>
          </a:p>
        </p:txBody>
      </p:sp>
      <p:sp>
        <p:nvSpPr>
          <p:cNvPr id="47" name="Freeform 31">
            <a:extLst>
              <a:ext uri="{FF2B5EF4-FFF2-40B4-BE49-F238E27FC236}">
                <a16:creationId xmlns:a16="http://schemas.microsoft.com/office/drawing/2014/main" id="{81CC9B02-E087-4350-AEBD-2C3CF001A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015974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8" name="Freeform: Shape 41">
            <a:extLst>
              <a:ext uri="{FF2B5EF4-FFF2-40B4-BE49-F238E27FC236}">
                <a16:creationId xmlns:a16="http://schemas.microsoft.com/office/drawing/2014/main" id="{AC3BF0FA-36FA-4CE9-840E-F7C3A8F16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6281796" y="947378"/>
            <a:ext cx="6858001" cy="4963245"/>
          </a:xfrm>
          <a:custGeom>
            <a:avLst/>
            <a:gdLst>
              <a:gd name="connsiteX0" fmla="*/ 6858001 w 6858001"/>
              <a:gd name="connsiteY0" fmla="*/ 1177 h 4963245"/>
              <a:gd name="connsiteX1" fmla="*/ 6858001 w 6858001"/>
              <a:gd name="connsiteY1" fmla="*/ 1344715 h 4963245"/>
              <a:gd name="connsiteX2" fmla="*/ 6858000 w 6858001"/>
              <a:gd name="connsiteY2" fmla="*/ 1344715 h 4963245"/>
              <a:gd name="connsiteX3" fmla="*/ 6858000 w 6858001"/>
              <a:gd name="connsiteY3" fmla="*/ 4963245 h 4963245"/>
              <a:gd name="connsiteX4" fmla="*/ 0 w 6858001"/>
              <a:gd name="connsiteY4" fmla="*/ 4963244 h 4963245"/>
              <a:gd name="connsiteX5" fmla="*/ 0 w 6858001"/>
              <a:gd name="connsiteY5" fmla="*/ 900697 h 4963245"/>
              <a:gd name="connsiteX6" fmla="*/ 1 w 6858001"/>
              <a:gd name="connsiteY6" fmla="*/ 900697 h 4963245"/>
              <a:gd name="connsiteX7" fmla="*/ 1 w 6858001"/>
              <a:gd name="connsiteY7" fmla="*/ 0 h 4963245"/>
              <a:gd name="connsiteX8" fmla="*/ 40463 w 6858001"/>
              <a:gd name="connsiteY8" fmla="*/ 5883 h 4963245"/>
              <a:gd name="connsiteX9" fmla="*/ 159107 w 6858001"/>
              <a:gd name="connsiteY9" fmla="*/ 23196 h 4963245"/>
              <a:gd name="connsiteX10" fmla="*/ 245518 w 6858001"/>
              <a:gd name="connsiteY10" fmla="*/ 35299 h 4963245"/>
              <a:gd name="connsiteX11" fmla="*/ 348388 w 6858001"/>
              <a:gd name="connsiteY11" fmla="*/ 48073 h 4963245"/>
              <a:gd name="connsiteX12" fmla="*/ 470460 w 6858001"/>
              <a:gd name="connsiteY12" fmla="*/ 63369 h 4963245"/>
              <a:gd name="connsiteX13" fmla="*/ 605563 w 6858001"/>
              <a:gd name="connsiteY13" fmla="*/ 79506 h 4963245"/>
              <a:gd name="connsiteX14" fmla="*/ 757810 w 6858001"/>
              <a:gd name="connsiteY14" fmla="*/ 96483 h 4963245"/>
              <a:gd name="connsiteX15" fmla="*/ 923774 w 6858001"/>
              <a:gd name="connsiteY15" fmla="*/ 114469 h 4963245"/>
              <a:gd name="connsiteX16" fmla="*/ 1104139 w 6858001"/>
              <a:gd name="connsiteY16" fmla="*/ 132454 h 4963245"/>
              <a:gd name="connsiteX17" fmla="*/ 1296163 w 6858001"/>
              <a:gd name="connsiteY17" fmla="*/ 150776 h 4963245"/>
              <a:gd name="connsiteX18" fmla="*/ 1503275 w 6858001"/>
              <a:gd name="connsiteY18" fmla="*/ 167753 h 4963245"/>
              <a:gd name="connsiteX19" fmla="*/ 1719988 w 6858001"/>
              <a:gd name="connsiteY19" fmla="*/ 184058 h 4963245"/>
              <a:gd name="connsiteX20" fmla="*/ 1949045 w 6858001"/>
              <a:gd name="connsiteY20" fmla="*/ 198849 h 4963245"/>
              <a:gd name="connsiteX21" fmla="*/ 2187703 w 6858001"/>
              <a:gd name="connsiteY21" fmla="*/ 212969 h 4963245"/>
              <a:gd name="connsiteX22" fmla="*/ 2436649 w 6858001"/>
              <a:gd name="connsiteY22" fmla="*/ 226248 h 4963245"/>
              <a:gd name="connsiteX23" fmla="*/ 2564208 w 6858001"/>
              <a:gd name="connsiteY23" fmla="*/ 230955 h 4963245"/>
              <a:gd name="connsiteX24" fmla="*/ 2694509 w 6858001"/>
              <a:gd name="connsiteY24" fmla="*/ 236165 h 4963245"/>
              <a:gd name="connsiteX25" fmla="*/ 2826868 w 6858001"/>
              <a:gd name="connsiteY25" fmla="*/ 241040 h 4963245"/>
              <a:gd name="connsiteX26" fmla="*/ 2959914 w 6858001"/>
              <a:gd name="connsiteY26" fmla="*/ 244234 h 4963245"/>
              <a:gd name="connsiteX27" fmla="*/ 3095702 w 6858001"/>
              <a:gd name="connsiteY27" fmla="*/ 247091 h 4963245"/>
              <a:gd name="connsiteX28" fmla="*/ 3232862 w 6858001"/>
              <a:gd name="connsiteY28" fmla="*/ 250117 h 4963245"/>
              <a:gd name="connsiteX29" fmla="*/ 3372765 w 6858001"/>
              <a:gd name="connsiteY29" fmla="*/ 252134 h 4963245"/>
              <a:gd name="connsiteX30" fmla="*/ 3514040 w 6858001"/>
              <a:gd name="connsiteY30" fmla="*/ 252134 h 4963245"/>
              <a:gd name="connsiteX31" fmla="*/ 3656686 w 6858001"/>
              <a:gd name="connsiteY31" fmla="*/ 253142 h 4963245"/>
              <a:gd name="connsiteX32" fmla="*/ 3800704 w 6858001"/>
              <a:gd name="connsiteY32" fmla="*/ 252134 h 4963245"/>
              <a:gd name="connsiteX33" fmla="*/ 3946780 w 6858001"/>
              <a:gd name="connsiteY33" fmla="*/ 250117 h 4963245"/>
              <a:gd name="connsiteX34" fmla="*/ 4092855 w 6858001"/>
              <a:gd name="connsiteY34" fmla="*/ 248268 h 4963245"/>
              <a:gd name="connsiteX35" fmla="*/ 4240988 w 6858001"/>
              <a:gd name="connsiteY35" fmla="*/ 244234 h 4963245"/>
              <a:gd name="connsiteX36" fmla="*/ 4390492 w 6858001"/>
              <a:gd name="connsiteY36" fmla="*/ 240032 h 4963245"/>
              <a:gd name="connsiteX37" fmla="*/ 4539997 w 6858001"/>
              <a:gd name="connsiteY37" fmla="*/ 235157 h 4963245"/>
              <a:gd name="connsiteX38" fmla="*/ 4690873 w 6858001"/>
              <a:gd name="connsiteY38" fmla="*/ 228266 h 4963245"/>
              <a:gd name="connsiteX39" fmla="*/ 4843120 w 6858001"/>
              <a:gd name="connsiteY39" fmla="*/ 220029 h 4963245"/>
              <a:gd name="connsiteX40" fmla="*/ 4996054 w 6858001"/>
              <a:gd name="connsiteY40" fmla="*/ 212129 h 4963245"/>
              <a:gd name="connsiteX41" fmla="*/ 5148987 w 6858001"/>
              <a:gd name="connsiteY41" fmla="*/ 202044 h 4963245"/>
              <a:gd name="connsiteX42" fmla="*/ 5303978 w 6858001"/>
              <a:gd name="connsiteY42" fmla="*/ 189941 h 4963245"/>
              <a:gd name="connsiteX43" fmla="*/ 5456911 w 6858001"/>
              <a:gd name="connsiteY43" fmla="*/ 177839 h 4963245"/>
              <a:gd name="connsiteX44" fmla="*/ 5612588 w 6858001"/>
              <a:gd name="connsiteY44" fmla="*/ 163887 h 4963245"/>
              <a:gd name="connsiteX45" fmla="*/ 5768950 w 6858001"/>
              <a:gd name="connsiteY45" fmla="*/ 148591 h 4963245"/>
              <a:gd name="connsiteX46" fmla="*/ 5923255 w 6858001"/>
              <a:gd name="connsiteY46" fmla="*/ 132455 h 4963245"/>
              <a:gd name="connsiteX47" fmla="*/ 6079618 w 6858001"/>
              <a:gd name="connsiteY47" fmla="*/ 113629 h 4963245"/>
              <a:gd name="connsiteX48" fmla="*/ 6235294 w 6858001"/>
              <a:gd name="connsiteY48" fmla="*/ 93458 h 4963245"/>
              <a:gd name="connsiteX49" fmla="*/ 6391657 w 6858001"/>
              <a:gd name="connsiteY49" fmla="*/ 73455 h 4963245"/>
              <a:gd name="connsiteX50" fmla="*/ 6547333 w 6858001"/>
              <a:gd name="connsiteY50" fmla="*/ 50091 h 4963245"/>
              <a:gd name="connsiteX51" fmla="*/ 6702324 w 6858001"/>
              <a:gd name="connsiteY51" fmla="*/ 26222 h 4963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858001" h="4963245">
                <a:moveTo>
                  <a:pt x="6858001" y="1177"/>
                </a:moveTo>
                <a:lnTo>
                  <a:pt x="6858001" y="1344715"/>
                </a:lnTo>
                <a:lnTo>
                  <a:pt x="6858000" y="1344715"/>
                </a:lnTo>
                <a:lnTo>
                  <a:pt x="6858000" y="4963245"/>
                </a:lnTo>
                <a:lnTo>
                  <a:pt x="0" y="4963244"/>
                </a:lnTo>
                <a:lnTo>
                  <a:pt x="0" y="900697"/>
                </a:lnTo>
                <a:lnTo>
                  <a:pt x="1" y="900697"/>
                </a:lnTo>
                <a:lnTo>
                  <a:pt x="1" y="0"/>
                </a:lnTo>
                <a:lnTo>
                  <a:pt x="40463" y="5883"/>
                </a:lnTo>
                <a:lnTo>
                  <a:pt x="159107" y="23196"/>
                </a:lnTo>
                <a:lnTo>
                  <a:pt x="245518" y="35299"/>
                </a:lnTo>
                <a:lnTo>
                  <a:pt x="348388" y="48073"/>
                </a:lnTo>
                <a:lnTo>
                  <a:pt x="470460" y="63369"/>
                </a:lnTo>
                <a:lnTo>
                  <a:pt x="605563" y="79506"/>
                </a:lnTo>
                <a:lnTo>
                  <a:pt x="757810" y="96483"/>
                </a:lnTo>
                <a:lnTo>
                  <a:pt x="923774" y="114469"/>
                </a:lnTo>
                <a:lnTo>
                  <a:pt x="1104139" y="132454"/>
                </a:lnTo>
                <a:lnTo>
                  <a:pt x="1296163" y="150776"/>
                </a:lnTo>
                <a:lnTo>
                  <a:pt x="1503275" y="167753"/>
                </a:lnTo>
                <a:lnTo>
                  <a:pt x="1719988" y="184058"/>
                </a:lnTo>
                <a:lnTo>
                  <a:pt x="1949045" y="198849"/>
                </a:lnTo>
                <a:lnTo>
                  <a:pt x="2187703" y="212969"/>
                </a:lnTo>
                <a:lnTo>
                  <a:pt x="2436649" y="226248"/>
                </a:lnTo>
                <a:lnTo>
                  <a:pt x="2564208" y="230955"/>
                </a:lnTo>
                <a:lnTo>
                  <a:pt x="2694509" y="236165"/>
                </a:lnTo>
                <a:lnTo>
                  <a:pt x="2826868" y="241040"/>
                </a:lnTo>
                <a:lnTo>
                  <a:pt x="2959914" y="244234"/>
                </a:lnTo>
                <a:lnTo>
                  <a:pt x="3095702" y="247091"/>
                </a:lnTo>
                <a:lnTo>
                  <a:pt x="3232862" y="250117"/>
                </a:lnTo>
                <a:lnTo>
                  <a:pt x="3372765" y="252134"/>
                </a:lnTo>
                <a:lnTo>
                  <a:pt x="3514040" y="252134"/>
                </a:lnTo>
                <a:lnTo>
                  <a:pt x="3656686" y="253142"/>
                </a:lnTo>
                <a:lnTo>
                  <a:pt x="3800704" y="252134"/>
                </a:lnTo>
                <a:lnTo>
                  <a:pt x="3946780" y="250117"/>
                </a:lnTo>
                <a:lnTo>
                  <a:pt x="4092855" y="248268"/>
                </a:lnTo>
                <a:lnTo>
                  <a:pt x="4240988" y="244234"/>
                </a:lnTo>
                <a:lnTo>
                  <a:pt x="4390492" y="240032"/>
                </a:lnTo>
                <a:lnTo>
                  <a:pt x="4539997" y="235157"/>
                </a:lnTo>
                <a:lnTo>
                  <a:pt x="4690873" y="228266"/>
                </a:lnTo>
                <a:lnTo>
                  <a:pt x="4843120" y="220029"/>
                </a:lnTo>
                <a:lnTo>
                  <a:pt x="4996054" y="212129"/>
                </a:lnTo>
                <a:lnTo>
                  <a:pt x="5148987" y="202044"/>
                </a:lnTo>
                <a:lnTo>
                  <a:pt x="5303978" y="189941"/>
                </a:lnTo>
                <a:lnTo>
                  <a:pt x="5456911" y="177839"/>
                </a:lnTo>
                <a:lnTo>
                  <a:pt x="5612588" y="163887"/>
                </a:lnTo>
                <a:lnTo>
                  <a:pt x="5768950" y="148591"/>
                </a:lnTo>
                <a:lnTo>
                  <a:pt x="5923255" y="132455"/>
                </a:lnTo>
                <a:lnTo>
                  <a:pt x="6079618" y="113629"/>
                </a:lnTo>
                <a:lnTo>
                  <a:pt x="6235294" y="93458"/>
                </a:lnTo>
                <a:lnTo>
                  <a:pt x="6391657" y="73455"/>
                </a:lnTo>
                <a:lnTo>
                  <a:pt x="6547333" y="50091"/>
                </a:lnTo>
                <a:lnTo>
                  <a:pt x="6702324" y="26222"/>
                </a:lnTo>
                <a:close/>
              </a:path>
            </a:pathLst>
          </a:custGeom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CAC6109-B282-0038-3B7F-91547C0C28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871" y="1408874"/>
            <a:ext cx="3414010" cy="4040249"/>
          </a:xfrm>
          <a:prstGeom prst="rect">
            <a:avLst/>
          </a:prstGeom>
          <a:effectLst/>
        </p:spPr>
      </p:pic>
      <p:sp>
        <p:nvSpPr>
          <p:cNvPr id="49" name="Rectangle 43">
            <a:extLst>
              <a:ext uri="{FF2B5EF4-FFF2-40B4-BE49-F238E27FC236}">
                <a16:creationId xmlns:a16="http://schemas.microsoft.com/office/drawing/2014/main" id="{D6F18ACE-6E82-4ADC-8A2F-A1771B309B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FBEE138-6590-61F4-A136-14C32637B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E725A04B-6C01-430F-BBE6-0BFF217C666F}" type="slidenum">
              <a:rPr lang="es-E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7</a:t>
            </a:fld>
            <a:endParaRPr lang="es-ES">
              <a:solidFill>
                <a:srgbClr val="FFFFFF"/>
              </a:solidFill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49F0CF-8629-F187-DFD2-4D950B2455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0" y="2438400"/>
            <a:ext cx="6188189" cy="3785419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Envio de </a:t>
            </a:r>
            <a:r>
              <a:rPr lang="en-US" dirty="0" err="1">
                <a:solidFill>
                  <a:srgbClr val="FFFFFF"/>
                </a:solidFill>
              </a:rPr>
              <a:t>dato</a:t>
            </a:r>
            <a:r>
              <a:rPr lang="en-US" dirty="0">
                <a:solidFill>
                  <a:srgbClr val="FFFFFF"/>
                </a:solidFill>
              </a:rPr>
              <a:t> start </a:t>
            </a:r>
            <a:r>
              <a:rPr lang="en-US" dirty="0" err="1">
                <a:solidFill>
                  <a:srgbClr val="FFFFFF"/>
                </a:solidFill>
              </a:rPr>
              <a:t>por</a:t>
            </a:r>
            <a:r>
              <a:rPr lang="en-US" dirty="0">
                <a:solidFill>
                  <a:srgbClr val="FFFFFF"/>
                </a:solidFill>
              </a:rPr>
              <a:t> UART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Timer </a:t>
            </a:r>
            <a:r>
              <a:rPr lang="en-US" dirty="0" err="1">
                <a:solidFill>
                  <a:srgbClr val="FFFFFF"/>
                </a:solidFill>
              </a:rPr>
              <a:t>inicia</a:t>
            </a:r>
            <a:r>
              <a:rPr lang="en-US" dirty="0">
                <a:solidFill>
                  <a:srgbClr val="FFFFFF"/>
                </a:solidFill>
              </a:rPr>
              <a:t> PC0, </a:t>
            </a:r>
            <a:r>
              <a:rPr lang="en-US" dirty="0" err="1">
                <a:solidFill>
                  <a:srgbClr val="FFFFFF"/>
                </a:solidFill>
              </a:rPr>
              <a:t>el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cual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actua</a:t>
            </a:r>
            <a:r>
              <a:rPr lang="en-US" dirty="0">
                <a:solidFill>
                  <a:srgbClr val="FFFFFF"/>
                </a:solidFill>
              </a:rPr>
              <a:t> de trigger para </a:t>
            </a:r>
            <a:r>
              <a:rPr lang="en-US" dirty="0" err="1">
                <a:solidFill>
                  <a:srgbClr val="FFFFFF"/>
                </a:solidFill>
              </a:rPr>
              <a:t>iniciar</a:t>
            </a:r>
            <a:r>
              <a:rPr lang="en-US" dirty="0">
                <a:solidFill>
                  <a:srgbClr val="FFFFFF"/>
                </a:solidFill>
              </a:rPr>
              <a:t> la </a:t>
            </a:r>
            <a:r>
              <a:rPr lang="en-US" dirty="0" err="1">
                <a:solidFill>
                  <a:srgbClr val="FFFFFF"/>
                </a:solidFill>
              </a:rPr>
              <a:t>medición</a:t>
            </a:r>
            <a:endParaRPr lang="en-US" dirty="0">
              <a:solidFill>
                <a:srgbClr val="FFFFFF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FFFFFF"/>
                </a:solidFill>
              </a:rPr>
              <a:t>Timer </a:t>
            </a:r>
            <a:r>
              <a:rPr lang="en-US" dirty="0" err="1">
                <a:solidFill>
                  <a:srgbClr val="FFFFFF"/>
                </a:solidFill>
              </a:rPr>
              <a:t>inicia</a:t>
            </a:r>
            <a:r>
              <a:rPr lang="en-US" dirty="0">
                <a:solidFill>
                  <a:srgbClr val="FFFFFF"/>
                </a:solidFill>
              </a:rPr>
              <a:t> DAC para </a:t>
            </a:r>
            <a:r>
              <a:rPr lang="en-US" dirty="0" err="1">
                <a:solidFill>
                  <a:srgbClr val="FFFFFF"/>
                </a:solidFill>
              </a:rPr>
              <a:t>empezar</a:t>
            </a:r>
            <a:r>
              <a:rPr lang="en-US" dirty="0">
                <a:solidFill>
                  <a:srgbClr val="FFFFFF"/>
                </a:solidFill>
              </a:rPr>
              <a:t> a </a:t>
            </a:r>
            <a:r>
              <a:rPr lang="en-US" dirty="0" err="1">
                <a:solidFill>
                  <a:srgbClr val="FFFFFF"/>
                </a:solidFill>
              </a:rPr>
              <a:t>capturar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datos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9C2F42-C9E4-4860-C9D0-5C62FF71EF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6915" y="6355080"/>
            <a:ext cx="3859795" cy="304801"/>
          </a:xfrm>
        </p:spPr>
        <p:txBody>
          <a:bodyPr>
            <a:normAutofit/>
          </a:bodyPr>
          <a:lstStyle/>
          <a:p>
            <a:endParaRPr lang="es-ES">
              <a:solidFill>
                <a:srgbClr val="FFFFFF">
                  <a:alpha val="6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9791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BE8514-14C1-4CBA-FAA4-E3B42AC18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0BDBA-5890-A0BC-2553-9CF6CC3F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Métricas obtenidas DAC STM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5C495AF-F986-1ACE-6D5E-23DFF25B3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7112" y="2010585"/>
            <a:ext cx="8946541" cy="4195481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A380CE7-6F75-ED91-3BAA-3887D03C0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8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857B0D-D624-9E97-57F3-9B81CA9B6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graphicFrame>
        <p:nvGraphicFramePr>
          <p:cNvPr id="7" name="Tabla 6">
            <a:extLst>
              <a:ext uri="{FF2B5EF4-FFF2-40B4-BE49-F238E27FC236}">
                <a16:creationId xmlns:a16="http://schemas.microsoft.com/office/drawing/2014/main" id="{73C12B4D-F81A-829A-474D-C46D06AEE5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7554112"/>
              </p:ext>
            </p:extLst>
          </p:nvPr>
        </p:nvGraphicFramePr>
        <p:xfrm>
          <a:off x="1284472" y="2954866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866946604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51965929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6899682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Datos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Medido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 err="1"/>
                        <a:t>Datasheet</a:t>
                      </a:r>
                      <a:endParaRPr lang="es-E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7083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Ganancia (%)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0.5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001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Offset en 0x800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~1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10989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Offset en 0x001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1 – 2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0624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5613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9C531D-9FB3-F33E-2597-DF8C8F31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Analog</a:t>
            </a:r>
            <a:r>
              <a:rPr lang="es-ES" dirty="0"/>
              <a:t> Discovery 2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B49FC1-71E8-C158-8CBC-1BB1859E75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err="1"/>
              <a:t>Wavegen</a:t>
            </a:r>
            <a:r>
              <a:rPr lang="es-ES" dirty="0"/>
              <a:t> offset =  4,6mV (sin considerar offset del </a:t>
            </a:r>
            <a:r>
              <a:rPr lang="es-ES" dirty="0" err="1"/>
              <a:t>scope</a:t>
            </a:r>
            <a:r>
              <a:rPr lang="es-ES" dirty="0"/>
              <a:t>)</a:t>
            </a:r>
          </a:p>
          <a:p>
            <a:r>
              <a:rPr lang="es-ES" dirty="0"/>
              <a:t>Scope offset = -900µV (4LSB de sus 14  bits)</a:t>
            </a:r>
          </a:p>
          <a:p>
            <a:r>
              <a:rPr lang="es-ES" dirty="0"/>
              <a:t>Métricas variables dependiendo de la amplitud de la entrada o salida</a:t>
            </a:r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CADADBA-9CE7-A1F7-ED29-28977AC11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1DAA484-DA2D-536E-C9ED-2ECB3D254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7583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2FD4D4-1630-BD6B-986B-4139BF362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Pendiente: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E3E2757-F2D6-69A2-97E1-A2E35FB650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s-ES" dirty="0"/>
              <a:t>Métricas del ADC del ESP32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Métricas AC de todos los periféricos</a:t>
            </a:r>
          </a:p>
          <a:p>
            <a:pPr marL="457200" indent="-457200">
              <a:buFont typeface="+mj-lt"/>
              <a:buAutoNum type="arabicPeriod"/>
            </a:pPr>
            <a:r>
              <a:rPr lang="es-ES" dirty="0"/>
              <a:t>Mejorar el equipamiento para realizar mediciones</a:t>
            </a:r>
          </a:p>
          <a:p>
            <a:pPr marL="457200" indent="-457200">
              <a:buFont typeface="+mj-lt"/>
              <a:buAutoNum type="arabicPeriod"/>
            </a:pP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594688-77A8-CF7D-B7E6-86304696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25A04B-6C01-430F-BBE6-0BFF217C666F}" type="slidenum">
              <a:rPr lang="es-ES" smtClean="0"/>
              <a:t>10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EB44F07-3C2A-B0E4-FB53-62549C39D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664139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1340</TotalTime>
  <Words>355</Words>
  <Application>Microsoft Office PowerPoint</Application>
  <PresentationFormat>Panorámica</PresentationFormat>
  <Paragraphs>72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Century Gothic</vt:lpstr>
      <vt:lpstr>Wingdings 3</vt:lpstr>
      <vt:lpstr>Ion</vt:lpstr>
      <vt:lpstr>Caracterización de ADC y DAC de microcontroladores</vt:lpstr>
      <vt:lpstr>Objetivo General</vt:lpstr>
      <vt:lpstr>Objetivos específicos</vt:lpstr>
      <vt:lpstr>Entorno de trabajo ADC</vt:lpstr>
      <vt:lpstr>Métricas obtenidas ADC STM</vt:lpstr>
      <vt:lpstr>Métricas obtenidas ADC STM</vt:lpstr>
      <vt:lpstr>Entorno de trabajo DAC</vt:lpstr>
      <vt:lpstr>Métricas obtenidas DAC STM</vt:lpstr>
      <vt:lpstr>Analog Discovery 2</vt:lpstr>
      <vt:lpstr>Pendiente: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Sanchez Perez (Alumno)</dc:creator>
  <cp:lastModifiedBy>Sebastian Sanchez Perez (Alumno)</cp:lastModifiedBy>
  <cp:revision>24</cp:revision>
  <dcterms:created xsi:type="dcterms:W3CDTF">2026-04-12T20:12:28Z</dcterms:created>
  <dcterms:modified xsi:type="dcterms:W3CDTF">2026-05-05T14:34:16Z</dcterms:modified>
</cp:coreProperties>
</file>